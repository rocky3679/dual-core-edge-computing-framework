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60" r:id="rId3"/>
    <p:sldId id="261" r:id="rId4"/>
    <p:sldId id="263" r:id="rId5"/>
    <p:sldId id="288" r:id="rId6"/>
    <p:sldId id="281" r:id="rId7"/>
    <p:sldId id="264" r:id="rId8"/>
    <p:sldId id="266" r:id="rId9"/>
    <p:sldId id="267" r:id="rId10"/>
    <p:sldId id="259" r:id="rId11"/>
    <p:sldId id="290" r:id="rId12"/>
    <p:sldId id="268" r:id="rId13"/>
    <p:sldId id="291" r:id="rId14"/>
    <p:sldId id="289" r:id="rId15"/>
    <p:sldId id="278" r:id="rId16"/>
    <p:sldId id="284" r:id="rId17"/>
    <p:sldId id="283" r:id="rId18"/>
    <p:sldId id="282" r:id="rId19"/>
    <p:sldId id="287" r:id="rId20"/>
    <p:sldId id="292" r:id="rId21"/>
    <p:sldId id="294" r:id="rId22"/>
    <p:sldId id="295" r:id="rId23"/>
    <p:sldId id="273" r:id="rId24"/>
    <p:sldId id="293"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201DEF-392A-4B16-8134-7CBD18BB56FF}" v="321" dt="2026-04-19T23:29:59.5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73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3E410D-D61D-4532-85A1-47F94B530E7F}" type="datetimeFigureOut">
              <a:rPr lang="en-US" smtClean="0"/>
              <a:pPr/>
              <a:t>4/19/2026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EAC9F3-AE4A-4005-B454-70569C1C708E}"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A138DB5B-A588-4D18-93A2-EF8F37C37724}" type="datetimeFigureOut">
              <a:rPr lang="en-US" smtClean="0"/>
              <a:pPr/>
              <a:t>4/19/2026</a:t>
            </a:fld>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71982B8C-5B92-4EA1-A5DC-646862B5C702}"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138DB5B-A588-4D18-93A2-EF8F37C37724}"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982B8C-5B92-4EA1-A5DC-646862B5C702}" type="slidenum">
              <a:rPr lang="en-US" smtClean="0"/>
              <a:pPr/>
              <a:t>‹#›</a:t>
            </a:fld>
            <a:endParaRPr lang="en-US" dirty="0"/>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138DB5B-A588-4D18-93A2-EF8F37C37724}"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982B8C-5B92-4EA1-A5DC-646862B5C702}"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138DB5B-A588-4D18-93A2-EF8F37C37724}" type="datetimeFigureOut">
              <a:rPr lang="en-US" smtClean="0"/>
              <a:pPr/>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982B8C-5B92-4EA1-A5DC-646862B5C702}" type="slidenum">
              <a:rPr lang="en-US" smtClean="0"/>
              <a:pPr/>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138DB5B-A588-4D18-93A2-EF8F37C37724}" type="datetimeFigureOut">
              <a:rPr lang="en-US" smtClean="0"/>
              <a:pPr/>
              <a:t>4/19/2026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982B8C-5B92-4EA1-A5DC-646862B5C702}"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138DB5B-A588-4D18-93A2-EF8F37C37724}" type="datetimeFigureOut">
              <a:rPr lang="en-US" smtClean="0"/>
              <a:pPr/>
              <a:t>4/19/2026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982B8C-5B92-4EA1-A5DC-646862B5C702}" type="slidenum">
              <a:rPr lang="en-US" smtClean="0"/>
              <a:pPr/>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38DB5B-A588-4D18-93A2-EF8F37C37724}" type="datetimeFigureOut">
              <a:rPr lang="en-US" smtClean="0"/>
              <a:pPr/>
              <a:t>4/19/2026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982B8C-5B92-4EA1-A5DC-646862B5C702}"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A138DB5B-A588-4D18-93A2-EF8F37C37724}" type="datetimeFigureOut">
              <a:rPr lang="en-US" smtClean="0"/>
              <a:pPr/>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982B8C-5B92-4EA1-A5DC-646862B5C702}"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fld id="{A138DB5B-A588-4D18-93A2-EF8F37C37724}" type="datetimeFigureOut">
              <a:rPr lang="en-US" smtClean="0"/>
              <a:pPr/>
              <a:t>4/19/2026</a:t>
            </a:fld>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1982B8C-5B92-4EA1-A5DC-646862B5C702}"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138DB5B-A588-4D18-93A2-EF8F37C37724}"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982B8C-5B92-4EA1-A5DC-646862B5C702}"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138DB5B-A588-4D18-93A2-EF8F37C37724}"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982B8C-5B92-4EA1-A5DC-646862B5C702}"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A138DB5B-A588-4D18-93A2-EF8F37C37724}" type="datetimeFigureOut">
              <a:rPr lang="en-US" smtClean="0"/>
              <a:pPr/>
              <a:t>4/19/2026</a:t>
            </a:fld>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1982B8C-5B92-4EA1-A5DC-646862B5C702}"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p:cNvSpPr/>
          <p:nvPr/>
        </p:nvSpPr>
        <p:spPr>
          <a:xfrm>
            <a:off x="531891" y="1713978"/>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chemeClr val="tx1"/>
                </a:solidFill>
                <a:latin typeface="Times New Roman"/>
                <a:cs typeface="Times New Roman"/>
              </a:rPr>
              <a:t>DEPARTMENT OF EEE </a:t>
            </a:r>
          </a:p>
        </p:txBody>
      </p:sp>
      <p:sp>
        <p:nvSpPr>
          <p:cNvPr id="7" name="Rectangle 6"/>
          <p:cNvSpPr/>
          <p:nvPr/>
        </p:nvSpPr>
        <p:spPr>
          <a:xfrm>
            <a:off x="990600" y="3276600"/>
            <a:ext cx="7391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457200" y="2819400"/>
            <a:ext cx="8534400" cy="274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685800" y="2667000"/>
            <a:ext cx="7924800" cy="3447098"/>
          </a:xfrm>
          <a:prstGeom prst="rect">
            <a:avLst/>
          </a:prstGeom>
          <a:noFill/>
        </p:spPr>
        <p:txBody>
          <a:bodyPr wrap="square" lIns="91440" tIns="45720" rIns="91440" bIns="45720" rtlCol="0" anchor="t">
            <a:spAutoFit/>
          </a:bodyPr>
          <a:lstStyle/>
          <a:p>
            <a:r>
              <a:rPr lang="en-US" sz="2000" b="1" dirty="0">
                <a:latin typeface="Times New Roman"/>
                <a:cs typeface="Times New Roman"/>
              </a:rPr>
              <a:t>PROJECT TITLE: </a:t>
            </a:r>
            <a:endParaRPr lang="en-US" dirty="0"/>
          </a:p>
          <a:p>
            <a:pPr algn="ctr"/>
            <a:r>
              <a:rPr lang="en-US" sz="2000" dirty="0">
                <a:latin typeface="Times New Roman"/>
                <a:cs typeface="Times New Roman"/>
              </a:rPr>
              <a:t>DUAL CORE EDGE COMPUTING FRAMEWORK FOR </a:t>
            </a:r>
            <a:r>
              <a:rPr lang="en-US" sz="2000">
                <a:latin typeface="Times New Roman"/>
                <a:cs typeface="Times New Roman"/>
              </a:rPr>
              <a:t>POWER </a:t>
            </a:r>
            <a:r>
              <a:rPr lang="en-US" sz="2000" dirty="0">
                <a:latin typeface="Times New Roman"/>
                <a:cs typeface="Times New Roman"/>
              </a:rPr>
              <a:t>FACTOR </a:t>
            </a:r>
            <a:r>
              <a:rPr lang="en-US" sz="2000">
                <a:latin typeface="Times New Roman"/>
                <a:cs typeface="Times New Roman"/>
              </a:rPr>
              <a:t>CORRECTION </a:t>
            </a:r>
            <a:r>
              <a:rPr lang="en-US" sz="2000" dirty="0">
                <a:latin typeface="Times New Roman"/>
                <a:cs typeface="Times New Roman"/>
              </a:rPr>
              <a:t>AND LOAD DEMAND MANAGEMENT</a:t>
            </a:r>
            <a:endParaRPr lang="en-US" sz="2000">
              <a:latin typeface="Times New Roman"/>
              <a:cs typeface="Times New Roman"/>
            </a:endParaRPr>
          </a:p>
          <a:p>
            <a:endParaRPr lang="en-US" sz="2000" dirty="0">
              <a:latin typeface="Times New Roman" pitchFamily="18" charset="0"/>
              <a:cs typeface="Times New Roman" pitchFamily="18" charset="0"/>
            </a:endParaRPr>
          </a:p>
          <a:p>
            <a:r>
              <a:rPr lang="en-US" sz="2000" b="1" dirty="0">
                <a:latin typeface="Times New Roman" pitchFamily="18" charset="0"/>
                <a:cs typeface="Times New Roman" pitchFamily="18" charset="0"/>
              </a:rPr>
              <a:t>TEAM MEMBERS: </a:t>
            </a:r>
          </a:p>
          <a:p>
            <a:pPr marL="457200" indent="-457200">
              <a:buAutoNum type="arabicPeriod"/>
            </a:pPr>
            <a:r>
              <a:rPr lang="en-US" sz="2000" dirty="0">
                <a:latin typeface="Times New Roman"/>
                <a:cs typeface="Times New Roman"/>
              </a:rPr>
              <a:t>JANAKI RAMAN </a:t>
            </a:r>
            <a:r>
              <a:rPr lang="en-US" sz="2000">
                <a:latin typeface="Times New Roman"/>
                <a:cs typeface="Times New Roman"/>
              </a:rPr>
              <a:t>K </a:t>
            </a:r>
            <a:r>
              <a:rPr lang="en-US" sz="2000" dirty="0">
                <a:latin typeface="Times New Roman"/>
                <a:cs typeface="Times New Roman"/>
              </a:rPr>
              <a:t>(111422105007)</a:t>
            </a:r>
          </a:p>
          <a:p>
            <a:pPr marL="457200" indent="-457200">
              <a:buAutoNum type="arabicPeriod"/>
            </a:pPr>
            <a:r>
              <a:rPr lang="en-US" sz="2000" dirty="0">
                <a:latin typeface="Times New Roman"/>
                <a:cs typeface="Times New Roman"/>
              </a:rPr>
              <a:t>PURUSHOTHAMAN </a:t>
            </a:r>
            <a:r>
              <a:rPr lang="en-US" sz="2000">
                <a:latin typeface="Times New Roman"/>
                <a:cs typeface="Times New Roman"/>
              </a:rPr>
              <a:t>M </a:t>
            </a:r>
            <a:r>
              <a:rPr lang="en-US" sz="2000" dirty="0">
                <a:latin typeface="Times New Roman"/>
                <a:cs typeface="Times New Roman"/>
              </a:rPr>
              <a:t>(111422105014)</a:t>
            </a:r>
          </a:p>
          <a:p>
            <a:pPr marL="457200" indent="-457200">
              <a:buAutoNum type="arabicPeriod"/>
            </a:pPr>
            <a:r>
              <a:rPr lang="en-US" sz="2000" dirty="0">
                <a:latin typeface="Times New Roman"/>
                <a:cs typeface="Times New Roman"/>
              </a:rPr>
              <a:t>RAJA PANDI </a:t>
            </a:r>
            <a:r>
              <a:rPr lang="en-US" sz="2000">
                <a:latin typeface="Times New Roman"/>
                <a:cs typeface="Times New Roman"/>
              </a:rPr>
              <a:t>P </a:t>
            </a:r>
            <a:r>
              <a:rPr lang="en-US" sz="2000" dirty="0">
                <a:latin typeface="Times New Roman"/>
                <a:cs typeface="Times New Roman"/>
              </a:rPr>
              <a:t>(111422105016)</a:t>
            </a:r>
          </a:p>
          <a:p>
            <a:endParaRPr lang="en-US" sz="2000" b="1" dirty="0">
              <a:latin typeface="Times New Roman" pitchFamily="18" charset="0"/>
              <a:cs typeface="Times New Roman" pitchFamily="18" charset="0"/>
            </a:endParaRPr>
          </a:p>
          <a:p>
            <a:r>
              <a:rPr lang="en-US" sz="2000" b="1" dirty="0">
                <a:latin typeface="Times New Roman"/>
                <a:cs typeface="Times New Roman"/>
              </a:rPr>
              <a:t>INTERNAL GUIDE : </a:t>
            </a:r>
            <a:r>
              <a:rPr lang="en-US" sz="2000" dirty="0">
                <a:latin typeface="Times New Roman"/>
                <a:cs typeface="Times New Roman"/>
              </a:rPr>
              <a:t>Dr. VENKATARAMANAN</a:t>
            </a:r>
            <a:r>
              <a:rPr lang="en-US" sz="2000">
                <a:latin typeface="Times New Roman"/>
                <a:cs typeface="Times New Roman"/>
              </a:rPr>
              <a:t> </a:t>
            </a:r>
            <a:r>
              <a:rPr lang="en-US" sz="2000" dirty="0">
                <a:latin typeface="Times New Roman"/>
                <a:cs typeface="Times New Roman"/>
              </a:rPr>
              <a:t>K</a:t>
            </a:r>
          </a:p>
          <a:p>
            <a:endParaRPr lang="en-US" dirty="0"/>
          </a:p>
        </p:txBody>
      </p:sp>
      <p:pic>
        <p:nvPicPr>
          <p:cNvPr id="3" name="Picture 2">
            <a:extLst>
              <a:ext uri="{FF2B5EF4-FFF2-40B4-BE49-F238E27FC236}">
                <a16:creationId xmlns:a16="http://schemas.microsoft.com/office/drawing/2014/main" id="{14E9ADEE-4E5A-D38E-7BD9-4F4FD42C42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CC717-354D-5928-C04B-C57886A3F06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01EA6E5-9049-57D9-C997-A34BB52D7D5B}"/>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C340DE42-3BF3-B490-EAF7-894FBF1D16F3}"/>
              </a:ext>
            </a:extLst>
          </p:cNvPr>
          <p:cNvSpPr/>
          <p:nvPr/>
        </p:nvSpPr>
        <p:spPr>
          <a:xfrm>
            <a:off x="532356" y="1828800"/>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chemeClr val="tx1"/>
                </a:solidFill>
                <a:latin typeface="Times New Roman"/>
                <a:cs typeface="Times New Roman"/>
              </a:rPr>
              <a:t>DEPARTMENT OF EEE  </a:t>
            </a:r>
          </a:p>
        </p:txBody>
      </p:sp>
      <p:sp>
        <p:nvSpPr>
          <p:cNvPr id="7" name="Rectangle 6">
            <a:extLst>
              <a:ext uri="{FF2B5EF4-FFF2-40B4-BE49-F238E27FC236}">
                <a16:creationId xmlns:a16="http://schemas.microsoft.com/office/drawing/2014/main" id="{9781A3E8-0C26-DA9C-1EB0-90D9CF23133F}"/>
              </a:ext>
            </a:extLst>
          </p:cNvPr>
          <p:cNvSpPr/>
          <p:nvPr/>
        </p:nvSpPr>
        <p:spPr>
          <a:xfrm>
            <a:off x="990600" y="3276600"/>
            <a:ext cx="7391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861FD1AD-136D-570B-217E-1FE7D8E4A74A}"/>
              </a:ext>
            </a:extLst>
          </p:cNvPr>
          <p:cNvSpPr txBox="1"/>
          <p:nvPr/>
        </p:nvSpPr>
        <p:spPr>
          <a:xfrm>
            <a:off x="685800" y="2590800"/>
            <a:ext cx="7924800" cy="4647426"/>
          </a:xfrm>
          <a:prstGeom prst="rect">
            <a:avLst/>
          </a:prstGeom>
          <a:noFill/>
        </p:spPr>
        <p:txBody>
          <a:bodyPr wrap="square" lIns="91440" tIns="45720" rIns="91440" bIns="45720" rtlCol="0" anchor="t">
            <a:spAutoFit/>
          </a:bodyPr>
          <a:lstStyle/>
          <a:p>
            <a:r>
              <a:rPr lang="en-US" sz="2000" b="1" dirty="0">
                <a:highlight>
                  <a:srgbClr val="FFFFFF"/>
                </a:highlight>
                <a:latin typeface="Times New Roman"/>
                <a:cs typeface="Times New Roman"/>
              </a:rPr>
              <a:t>CONTENTS </a:t>
            </a:r>
          </a:p>
          <a:p>
            <a:pPr marL="342900" indent="-342900">
              <a:buFont typeface="Wingdings" panose="05000000000000000000" pitchFamily="2" charset="2"/>
              <a:buChar char="§"/>
            </a:pPr>
            <a:r>
              <a:rPr lang="en-US" sz="2000" dirty="0">
                <a:highlight>
                  <a:srgbClr val="FFFFFF"/>
                </a:highlight>
                <a:latin typeface="Times New Roman"/>
                <a:cs typeface="Times New Roman"/>
              </a:rPr>
              <a:t>ABSTRACT </a:t>
            </a:r>
          </a:p>
          <a:p>
            <a:pPr marL="342900" indent="-342900">
              <a:buFont typeface="Wingdings" panose="05000000000000000000" pitchFamily="2" charset="2"/>
              <a:buChar char="§"/>
            </a:pPr>
            <a:r>
              <a:rPr lang="en-US" sz="2000" dirty="0">
                <a:highlight>
                  <a:srgbClr val="FFFFFF"/>
                </a:highlight>
                <a:latin typeface="Times New Roman"/>
                <a:cs typeface="Times New Roman"/>
              </a:rPr>
              <a:t>INTRODUCTION</a:t>
            </a:r>
          </a:p>
          <a:p>
            <a:pPr marL="342900" indent="-342900">
              <a:buFont typeface="Wingdings" panose="05000000000000000000" pitchFamily="2" charset="2"/>
              <a:buChar char="§"/>
            </a:pPr>
            <a:r>
              <a:rPr lang="en-US" sz="2000" dirty="0">
                <a:highlight>
                  <a:srgbClr val="FFFFFF"/>
                </a:highlight>
                <a:latin typeface="Times New Roman"/>
                <a:cs typeface="Times New Roman"/>
              </a:rPr>
              <a:t>LITERATURE REVIEW</a:t>
            </a:r>
          </a:p>
          <a:p>
            <a:pPr marL="342900" indent="-342900">
              <a:buFont typeface="Wingdings" panose="05000000000000000000" pitchFamily="2" charset="2"/>
              <a:buChar char="§"/>
            </a:pPr>
            <a:r>
              <a:rPr lang="en-US" sz="2000" dirty="0">
                <a:highlight>
                  <a:srgbClr val="FFFFFF"/>
                </a:highlight>
                <a:latin typeface="Times New Roman"/>
                <a:cs typeface="Times New Roman"/>
              </a:rPr>
              <a:t>EXISTING SYSTEM</a:t>
            </a:r>
          </a:p>
          <a:p>
            <a:pPr marL="342900" indent="-342900">
              <a:buFont typeface="Wingdings" panose="05000000000000000000" pitchFamily="2" charset="2"/>
              <a:buChar char="§"/>
            </a:pPr>
            <a:r>
              <a:rPr lang="en-US" sz="2000" dirty="0">
                <a:highlight>
                  <a:srgbClr val="FFFFFF"/>
                </a:highlight>
                <a:latin typeface="Times New Roman"/>
                <a:cs typeface="Times New Roman"/>
              </a:rPr>
              <a:t>PROPOSED SYSTEM </a:t>
            </a:r>
          </a:p>
          <a:p>
            <a:pPr marL="342900" indent="-342900">
              <a:buFont typeface="Wingdings" panose="05000000000000000000" pitchFamily="2" charset="2"/>
              <a:buChar char="§"/>
            </a:pPr>
            <a:r>
              <a:rPr lang="en-US" sz="2000" dirty="0">
                <a:highlight>
                  <a:srgbClr val="FFFFFF"/>
                </a:highlight>
                <a:latin typeface="Times New Roman"/>
                <a:cs typeface="Times New Roman"/>
              </a:rPr>
              <a:t>HARDWARE/SOFTWARE REQUIREMENTS </a:t>
            </a:r>
          </a:p>
          <a:p>
            <a:pPr marL="342900" indent="-342900">
              <a:buFont typeface="Wingdings" panose="05000000000000000000" pitchFamily="2" charset="2"/>
              <a:buChar char="§"/>
            </a:pPr>
            <a:r>
              <a:rPr lang="en-US" sz="2000" dirty="0">
                <a:highlight>
                  <a:srgbClr val="FFFFFF"/>
                </a:highlight>
                <a:latin typeface="Times New Roman"/>
                <a:cs typeface="Times New Roman"/>
              </a:rPr>
              <a:t>METHODOLOGY</a:t>
            </a:r>
          </a:p>
          <a:p>
            <a:pPr marL="342900" indent="-342900">
              <a:buFont typeface="Wingdings" panose="05000000000000000000" pitchFamily="2" charset="2"/>
              <a:buChar char="§"/>
            </a:pPr>
            <a:r>
              <a:rPr lang="en-US" sz="2000">
                <a:highlight>
                  <a:srgbClr val="FFFFFF"/>
                </a:highlight>
                <a:latin typeface="Times New Roman"/>
                <a:cs typeface="Times New Roman"/>
              </a:rPr>
              <a:t>REAL-TIME </a:t>
            </a:r>
            <a:r>
              <a:rPr lang="en-US" sz="2000" dirty="0">
                <a:highlight>
                  <a:srgbClr val="FFFFFF"/>
                </a:highlight>
                <a:latin typeface="Times New Roman"/>
                <a:cs typeface="Times New Roman"/>
              </a:rPr>
              <a:t>INTEGRATION</a:t>
            </a:r>
            <a:endParaRPr lang="en-US" sz="2000" dirty="0">
              <a:highlight>
                <a:srgbClr val="FFFFFF"/>
              </a:highlight>
              <a:latin typeface="Times New Roman" pitchFamily="18" charset="0"/>
              <a:cs typeface="Times New Roman" pitchFamily="18" charset="0"/>
            </a:endParaRPr>
          </a:p>
          <a:p>
            <a:pPr marL="342900" indent="-342900">
              <a:buFont typeface="Wingdings" panose="05000000000000000000" pitchFamily="2" charset="2"/>
              <a:buChar char="§"/>
            </a:pPr>
            <a:r>
              <a:rPr lang="en-US" sz="2000" dirty="0">
                <a:highlight>
                  <a:srgbClr val="FFFFFF"/>
                </a:highlight>
                <a:latin typeface="Times New Roman"/>
                <a:cs typeface="Times New Roman"/>
              </a:rPr>
              <a:t>SIMULATION</a:t>
            </a:r>
            <a:endParaRPr lang="en-US" sz="2000" dirty="0">
              <a:highlight>
                <a:srgbClr val="FFFFFF"/>
              </a:highlight>
              <a:latin typeface="Times New Roman" pitchFamily="18" charset="0"/>
              <a:cs typeface="Times New Roman" pitchFamily="18" charset="0"/>
            </a:endParaRPr>
          </a:p>
          <a:p>
            <a:pPr marL="342900" indent="-342900">
              <a:buFont typeface="Wingdings" panose="05000000000000000000" pitchFamily="2" charset="2"/>
              <a:buChar char="§"/>
            </a:pPr>
            <a:r>
              <a:rPr lang="en-US" sz="2000" dirty="0">
                <a:highlight>
                  <a:srgbClr val="FFFFFF"/>
                </a:highlight>
                <a:latin typeface="Times New Roman"/>
                <a:cs typeface="Times New Roman"/>
              </a:rPr>
              <a:t>RESULTS</a:t>
            </a:r>
            <a:endParaRPr lang="en-US" sz="2000">
              <a:highlight>
                <a:srgbClr val="FFFFFF"/>
              </a:highlight>
              <a:latin typeface="Times New Roman"/>
              <a:cs typeface="Times New Roman"/>
            </a:endParaRPr>
          </a:p>
          <a:p>
            <a:pPr marL="342900" indent="-342900">
              <a:buFont typeface="Wingdings" panose="05000000000000000000" pitchFamily="2" charset="2"/>
              <a:buChar char="§"/>
            </a:pPr>
            <a:r>
              <a:rPr lang="en-US" sz="2000">
                <a:highlight>
                  <a:srgbClr val="FFFFFF"/>
                </a:highlight>
                <a:latin typeface="Times New Roman"/>
                <a:cs typeface="Times New Roman"/>
              </a:rPr>
              <a:t>HARDWARE PROTOTYPE</a:t>
            </a:r>
            <a:endParaRPr lang="en-US" sz="2000" dirty="0">
              <a:highlight>
                <a:srgbClr val="FFFFFF"/>
              </a:highlight>
              <a:latin typeface="Times New Roman"/>
              <a:cs typeface="Times New Roman"/>
            </a:endParaRPr>
          </a:p>
          <a:p>
            <a:endParaRPr lang="en-US" sz="2000">
              <a:latin typeface="Times New Roman"/>
              <a:cs typeface="Times New Roman"/>
            </a:endParaRPr>
          </a:p>
          <a:p>
            <a:endParaRPr lang="en-US">
              <a:latin typeface="Lucida Sans Unicode"/>
              <a:cs typeface="Lucida Sans Unicode"/>
            </a:endParaRPr>
          </a:p>
          <a:p>
            <a:endParaRPr lang="en-US">
              <a:latin typeface="Lucida Sans Unicode"/>
              <a:cs typeface="Lucida Sans Unicode"/>
            </a:endParaRPr>
          </a:p>
        </p:txBody>
      </p:sp>
      <p:pic>
        <p:nvPicPr>
          <p:cNvPr id="3" name="Picture 2">
            <a:extLst>
              <a:ext uri="{FF2B5EF4-FFF2-40B4-BE49-F238E27FC236}">
                <a16:creationId xmlns:a16="http://schemas.microsoft.com/office/drawing/2014/main" id="{E0CB6D64-E65A-2240-54FD-987E89D12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Tree>
    <p:extLst>
      <p:ext uri="{BB962C8B-B14F-4D97-AF65-F5344CB8AC3E}">
        <p14:creationId xmlns:p14="http://schemas.microsoft.com/office/powerpoint/2010/main" val="1119437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D89F1-DD55-97C4-3B96-130DF0B2D4E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06E3FA7-E69F-B90A-6E9A-F1538B5637DB}"/>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64253D46-E16B-6B15-B7CA-7EDFB0DCAFBC}"/>
              </a:ext>
            </a:extLst>
          </p:cNvPr>
          <p:cNvSpPr/>
          <p:nvPr/>
        </p:nvSpPr>
        <p:spPr>
          <a:xfrm>
            <a:off x="532356" y="1599156"/>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chemeClr val="tx1"/>
                </a:solidFill>
                <a:latin typeface="Times New Roman"/>
                <a:cs typeface="Times New Roman"/>
              </a:rPr>
              <a:t>DEPARTMENT OF EEE  </a:t>
            </a:r>
          </a:p>
        </p:txBody>
      </p:sp>
      <p:sp>
        <p:nvSpPr>
          <p:cNvPr id="9" name="TextBox 8">
            <a:extLst>
              <a:ext uri="{FF2B5EF4-FFF2-40B4-BE49-F238E27FC236}">
                <a16:creationId xmlns:a16="http://schemas.microsoft.com/office/drawing/2014/main" id="{F98FEA99-1859-FD26-46F4-D0F21646D752}"/>
              </a:ext>
            </a:extLst>
          </p:cNvPr>
          <p:cNvSpPr txBox="1"/>
          <p:nvPr/>
        </p:nvSpPr>
        <p:spPr>
          <a:xfrm>
            <a:off x="610644" y="2217829"/>
            <a:ext cx="7924800" cy="400110"/>
          </a:xfrm>
          <a:prstGeom prst="rect">
            <a:avLst/>
          </a:prstGeom>
          <a:noFill/>
        </p:spPr>
        <p:txBody>
          <a:bodyPr wrap="square" rtlCol="0">
            <a:spAutoFit/>
          </a:bodyPr>
          <a:lstStyle/>
          <a:p>
            <a:pPr algn="ctr"/>
            <a:r>
              <a:rPr lang="en-US" sz="2000" b="1" dirty="0">
                <a:latin typeface="Times New Roman" pitchFamily="18" charset="0"/>
                <a:cs typeface="Times New Roman" pitchFamily="18" charset="0"/>
              </a:rPr>
              <a:t>ABSTRACT </a:t>
            </a:r>
            <a:endParaRPr lang="en-US" dirty="0"/>
          </a:p>
        </p:txBody>
      </p:sp>
      <p:pic>
        <p:nvPicPr>
          <p:cNvPr id="3" name="Picture 2">
            <a:extLst>
              <a:ext uri="{FF2B5EF4-FFF2-40B4-BE49-F238E27FC236}">
                <a16:creationId xmlns:a16="http://schemas.microsoft.com/office/drawing/2014/main" id="{1ABAA34D-3F57-AE3B-F70F-E40F6BF79A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
        <p:nvSpPr>
          <p:cNvPr id="5" name="TextBox 4">
            <a:extLst>
              <a:ext uri="{FF2B5EF4-FFF2-40B4-BE49-F238E27FC236}">
                <a16:creationId xmlns:a16="http://schemas.microsoft.com/office/drawing/2014/main" id="{1773C99E-BB9B-AAB7-43B9-752AC16B3449}"/>
              </a:ext>
            </a:extLst>
          </p:cNvPr>
          <p:cNvSpPr txBox="1"/>
          <p:nvPr/>
        </p:nvSpPr>
        <p:spPr>
          <a:xfrm>
            <a:off x="287054" y="2623696"/>
            <a:ext cx="857824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highlight>
                  <a:srgbClr val="FFFFFF"/>
                </a:highlight>
                <a:latin typeface="Times New Roman"/>
                <a:ea typeface="+mn-lt"/>
                <a:cs typeface="+mn-lt"/>
              </a:rPr>
              <a:t>Managing fluctuating load demand and maintaining near-unity power factor presents significant challenges. This Dual Core Power Factor Optimization and Smart Load Demand Management System integrates with real-time power quality monitoring to achieve ≥0.98 power factor and 15-25% peak demand reduction through predictive load shifting and intelligent demand response. Featuring reinforcement learning-based demand response, neural network compensation sizing, precise electrical parameter sensing, and adaptive reactive power control via capacitor banks or STATCOM, the IoT-enabled edge computing solution delivers harmonic mitigation and substantial cost savings. Scalable for industrial and utility applications, it overcomes traditional APFC limitations through predictive analytics and smart demand orchestration for sustainable power systems.</a:t>
            </a:r>
            <a:endParaRPr lang="en-US">
              <a:cs typeface="Lucida Sans Unicode"/>
            </a:endParaRPr>
          </a:p>
        </p:txBody>
      </p:sp>
    </p:spTree>
    <p:extLst>
      <p:ext uri="{BB962C8B-B14F-4D97-AF65-F5344CB8AC3E}">
        <p14:creationId xmlns:p14="http://schemas.microsoft.com/office/powerpoint/2010/main" val="4206047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EC068-31A5-23FC-8BF3-A304BCB041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32BE02F-5C69-1DD6-4A69-11EB1596F38B}"/>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B0FD3966-2986-AAE0-7681-1B039833C47D}"/>
              </a:ext>
            </a:extLst>
          </p:cNvPr>
          <p:cNvSpPr/>
          <p:nvPr/>
        </p:nvSpPr>
        <p:spPr>
          <a:xfrm>
            <a:off x="532356" y="1515649"/>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sp>
        <p:nvSpPr>
          <p:cNvPr id="9" name="TextBox 8">
            <a:extLst>
              <a:ext uri="{FF2B5EF4-FFF2-40B4-BE49-F238E27FC236}">
                <a16:creationId xmlns:a16="http://schemas.microsoft.com/office/drawing/2014/main" id="{BBC01D78-40B4-470D-EA06-681EFE749118}"/>
              </a:ext>
            </a:extLst>
          </p:cNvPr>
          <p:cNvSpPr txBox="1"/>
          <p:nvPr/>
        </p:nvSpPr>
        <p:spPr>
          <a:xfrm>
            <a:off x="605425" y="2210332"/>
            <a:ext cx="7924800" cy="400110"/>
          </a:xfrm>
          <a:prstGeom prst="rect">
            <a:avLst/>
          </a:prstGeom>
          <a:noFill/>
        </p:spPr>
        <p:txBody>
          <a:bodyPr wrap="square" rtlCol="0">
            <a:spAutoFit/>
          </a:bodyPr>
          <a:lstStyle/>
          <a:p>
            <a:pPr algn="ctr"/>
            <a:r>
              <a:rPr lang="en-US" sz="2000" b="1" dirty="0">
                <a:latin typeface="Times New Roman" pitchFamily="18" charset="0"/>
                <a:cs typeface="Times New Roman" pitchFamily="18" charset="0"/>
              </a:rPr>
              <a:t>INTRODUCTION </a:t>
            </a:r>
            <a:endParaRPr lang="en-US" dirty="0"/>
          </a:p>
        </p:txBody>
      </p:sp>
      <p:pic>
        <p:nvPicPr>
          <p:cNvPr id="3" name="Picture 2">
            <a:extLst>
              <a:ext uri="{FF2B5EF4-FFF2-40B4-BE49-F238E27FC236}">
                <a16:creationId xmlns:a16="http://schemas.microsoft.com/office/drawing/2014/main" id="{7F816E13-9EA0-2322-2292-F4E2FE60FB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
        <p:nvSpPr>
          <p:cNvPr id="2" name="TextBox 1">
            <a:extLst>
              <a:ext uri="{FF2B5EF4-FFF2-40B4-BE49-F238E27FC236}">
                <a16:creationId xmlns:a16="http://schemas.microsoft.com/office/drawing/2014/main" id="{EACA5ABE-F2BC-E89A-FE68-DBF4C2AC1AA2}"/>
              </a:ext>
            </a:extLst>
          </p:cNvPr>
          <p:cNvSpPr txBox="1"/>
          <p:nvPr/>
        </p:nvSpPr>
        <p:spPr>
          <a:xfrm>
            <a:off x="2838322" y="3697489"/>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TextBox 4">
            <a:extLst>
              <a:ext uri="{FF2B5EF4-FFF2-40B4-BE49-F238E27FC236}">
                <a16:creationId xmlns:a16="http://schemas.microsoft.com/office/drawing/2014/main" id="{1119367E-2EC0-5ABA-834D-130D72C2191D}"/>
              </a:ext>
            </a:extLst>
          </p:cNvPr>
          <p:cNvSpPr txBox="1"/>
          <p:nvPr/>
        </p:nvSpPr>
        <p:spPr>
          <a:xfrm>
            <a:off x="536497" y="2755242"/>
            <a:ext cx="8077199"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a:highlight>
                  <a:srgbClr val="FFFFFF"/>
                </a:highlight>
                <a:latin typeface="Times New Roman"/>
                <a:ea typeface="+mn-lt"/>
                <a:cs typeface="Times New Roman"/>
              </a:rPr>
              <a:t>Rapid technological advancement and growing electrical energy demand require innovative power management solutions</a:t>
            </a:r>
            <a:endParaRPr lang="en-US">
              <a:highlight>
                <a:srgbClr val="FFFFFF"/>
              </a:highlight>
              <a:cs typeface="Lucida Sans Unicode"/>
            </a:endParaRPr>
          </a:p>
          <a:p>
            <a:pPr marL="285750" indent="-285750" algn="just">
              <a:buFont typeface="Arial"/>
              <a:buChar char="•"/>
            </a:pPr>
            <a:r>
              <a:rPr lang="en-US">
                <a:highlight>
                  <a:srgbClr val="FFFFFF"/>
                </a:highlight>
                <a:latin typeface="Times New Roman"/>
                <a:ea typeface="+mn-lt"/>
                <a:cs typeface="Times New Roman"/>
              </a:rPr>
              <a:t>Traditional frameworks struggle with modern challenges like variable consumption trends and renewable energy integration</a:t>
            </a:r>
          </a:p>
          <a:p>
            <a:pPr marL="285750" indent="-285750" algn="just">
              <a:buFont typeface="Arial"/>
              <a:buChar char="•"/>
            </a:pPr>
            <a:r>
              <a:rPr lang="en-US">
                <a:highlight>
                  <a:srgbClr val="FFFFFF"/>
                </a:highlight>
                <a:latin typeface="Times New Roman"/>
                <a:ea typeface="+mn-lt"/>
                <a:cs typeface="Times New Roman"/>
              </a:rPr>
              <a:t>Need for real-time, adaptive control systems in contemporary power grids</a:t>
            </a:r>
          </a:p>
          <a:p>
            <a:pPr marL="285750" indent="-285750" algn="just">
              <a:buFont typeface="Arial"/>
              <a:buChar char="•"/>
            </a:pPr>
            <a:r>
              <a:rPr lang="en-US">
                <a:highlight>
                  <a:srgbClr val="FFFFFF"/>
                </a:highlight>
                <a:latin typeface="Times New Roman"/>
                <a:ea typeface="+mn-lt"/>
                <a:cs typeface="Times New Roman"/>
              </a:rPr>
              <a:t>Smart Integrated Load and Power Management System ensures a groundbreaking approach transforming electrical power management</a:t>
            </a:r>
          </a:p>
          <a:p>
            <a:pPr marL="285750" indent="-285750" algn="just">
              <a:buFont typeface="Arial"/>
              <a:buChar char="•"/>
            </a:pPr>
            <a:r>
              <a:rPr lang="en-US">
                <a:highlight>
                  <a:srgbClr val="FFFFFF"/>
                </a:highlight>
                <a:latin typeface="Times New Roman"/>
                <a:ea typeface="+mn-lt"/>
                <a:cs typeface="Times New Roman"/>
              </a:rPr>
              <a:t>Combines established load compensation methods with IoT and technologies</a:t>
            </a:r>
          </a:p>
          <a:p>
            <a:pPr marL="285750" indent="-285750" algn="just">
              <a:buFont typeface="Arial"/>
              <a:buChar char="•"/>
            </a:pPr>
            <a:r>
              <a:rPr lang="en-US">
                <a:highlight>
                  <a:srgbClr val="FFFFFF"/>
                </a:highlight>
                <a:latin typeface="Times New Roman"/>
                <a:ea typeface="+mn-lt"/>
                <a:cs typeface="Times New Roman"/>
              </a:rPr>
              <a:t>Self-regulating control system providing high-precision, real-time Power Factor optimization</a:t>
            </a:r>
          </a:p>
          <a:p>
            <a:pPr marL="285750" indent="-285750" algn="just">
              <a:buFont typeface="Arial"/>
              <a:buChar char="•"/>
            </a:pPr>
            <a:r>
              <a:rPr lang="en-US">
                <a:highlight>
                  <a:srgbClr val="FFFFFF"/>
                </a:highlight>
                <a:latin typeface="Times New Roman"/>
                <a:ea typeface="+mn-lt"/>
                <a:cs typeface="Times New Roman"/>
              </a:rPr>
              <a:t>Function Fitting Neural Network architecture chosen over traditional methods</a:t>
            </a:r>
          </a:p>
          <a:p>
            <a:pPr marL="285750" indent="-285750" algn="just">
              <a:buFont typeface="Arial"/>
              <a:buChar char="•"/>
            </a:pPr>
            <a:r>
              <a:rPr lang="en-US">
                <a:highlight>
                  <a:srgbClr val="FFFFFF"/>
                </a:highlight>
                <a:latin typeface="Times New Roman"/>
                <a:ea typeface="+mn-lt"/>
                <a:cs typeface="Times New Roman"/>
              </a:rPr>
              <a:t>Moves beyond slow rule-based systems and evolutionary algorithms (e.g., Genetic Algorithms)</a:t>
            </a:r>
          </a:p>
        </p:txBody>
      </p:sp>
    </p:spTree>
    <p:extLst>
      <p:ext uri="{BB962C8B-B14F-4D97-AF65-F5344CB8AC3E}">
        <p14:creationId xmlns:p14="http://schemas.microsoft.com/office/powerpoint/2010/main" val="2882092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EF8FD-1B89-3995-D277-AC0A17A6F8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B801434-D305-2599-71EC-BE05DAE92CDA}"/>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8C6CEED2-6F88-5556-C565-D0139FC6751E}"/>
              </a:ext>
            </a:extLst>
          </p:cNvPr>
          <p:cNvSpPr/>
          <p:nvPr/>
        </p:nvSpPr>
        <p:spPr>
          <a:xfrm>
            <a:off x="532356" y="1515649"/>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sp>
        <p:nvSpPr>
          <p:cNvPr id="9" name="TextBox 8">
            <a:extLst>
              <a:ext uri="{FF2B5EF4-FFF2-40B4-BE49-F238E27FC236}">
                <a16:creationId xmlns:a16="http://schemas.microsoft.com/office/drawing/2014/main" id="{BDC43305-B636-82F9-9C3A-4D9F682ABF5E}"/>
              </a:ext>
            </a:extLst>
          </p:cNvPr>
          <p:cNvSpPr txBox="1"/>
          <p:nvPr/>
        </p:nvSpPr>
        <p:spPr>
          <a:xfrm>
            <a:off x="605425" y="2138445"/>
            <a:ext cx="7924800" cy="400110"/>
          </a:xfrm>
          <a:prstGeom prst="rect">
            <a:avLst/>
          </a:prstGeom>
          <a:noFill/>
        </p:spPr>
        <p:txBody>
          <a:bodyPr wrap="square" lIns="91440" tIns="45720" rIns="91440" bIns="45720" rtlCol="0" anchor="t">
            <a:spAutoFit/>
          </a:bodyPr>
          <a:lstStyle/>
          <a:p>
            <a:pPr algn="ctr"/>
            <a:r>
              <a:rPr lang="en-US" sz="2000" b="1" dirty="0">
                <a:latin typeface="Times New Roman"/>
                <a:cs typeface="Times New Roman"/>
              </a:rPr>
              <a:t>INTRODUCTION (Continued..) </a:t>
            </a:r>
            <a:endParaRPr lang="en-US" dirty="0"/>
          </a:p>
        </p:txBody>
      </p:sp>
      <p:pic>
        <p:nvPicPr>
          <p:cNvPr id="3" name="Picture 2">
            <a:extLst>
              <a:ext uri="{FF2B5EF4-FFF2-40B4-BE49-F238E27FC236}">
                <a16:creationId xmlns:a16="http://schemas.microsoft.com/office/drawing/2014/main" id="{D366B57A-5B8C-BF99-0049-412140195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
        <p:nvSpPr>
          <p:cNvPr id="10" name="TextBox 9">
            <a:extLst>
              <a:ext uri="{FF2B5EF4-FFF2-40B4-BE49-F238E27FC236}">
                <a16:creationId xmlns:a16="http://schemas.microsoft.com/office/drawing/2014/main" id="{5C230C7C-C249-93F5-1A24-2F41A448C90E}"/>
              </a:ext>
            </a:extLst>
          </p:cNvPr>
          <p:cNvSpPr txBox="1"/>
          <p:nvPr/>
        </p:nvSpPr>
        <p:spPr>
          <a:xfrm>
            <a:off x="516995" y="2686853"/>
            <a:ext cx="8084389" cy="2308324"/>
          </a:xfrm>
          <a:prstGeom prst="rect">
            <a:avLst/>
          </a:prstGeom>
          <a:noFill/>
        </p:spPr>
        <p:txBody>
          <a:bodyPr wrap="square" lIns="91440" tIns="45720" rIns="91440" bIns="45720" rtlCol="0" anchor="t">
            <a:spAutoFit/>
          </a:bodyPr>
          <a:lstStyle/>
          <a:p>
            <a:pPr marL="285750" indent="-285750" algn="just">
              <a:buFont typeface="Arial"/>
              <a:buChar char="•"/>
            </a:pPr>
            <a:r>
              <a:rPr lang="en-US">
                <a:highlight>
                  <a:srgbClr val="FFFFFF"/>
                </a:highlight>
                <a:latin typeface="Times New Roman"/>
                <a:ea typeface="+mn-lt"/>
                <a:cs typeface="Times New Roman"/>
              </a:rPr>
              <a:t>Operates under </a:t>
            </a:r>
            <a:r>
              <a:rPr lang="en-US" dirty="0">
                <a:highlight>
                  <a:srgbClr val="FFFFFF"/>
                </a:highlight>
                <a:latin typeface="Times New Roman"/>
                <a:ea typeface="+mn-lt"/>
                <a:cs typeface="Times New Roman"/>
              </a:rPr>
              <a:t>Supervised Learning </a:t>
            </a:r>
            <a:r>
              <a:rPr lang="en-US">
                <a:highlight>
                  <a:srgbClr val="FFFFFF"/>
                </a:highlight>
                <a:latin typeface="Times New Roman"/>
                <a:ea typeface="+mn-lt"/>
                <a:cs typeface="Times New Roman"/>
              </a:rPr>
              <a:t>framework for intelligent decision-making</a:t>
            </a:r>
            <a:endParaRPr lang="en-US"/>
          </a:p>
          <a:p>
            <a:pPr marL="285750" indent="-285750" algn="just">
              <a:buFont typeface="Arial"/>
              <a:buChar char="•"/>
            </a:pPr>
            <a:r>
              <a:rPr lang="en-US" dirty="0">
                <a:highlight>
                  <a:srgbClr val="FFFFFF"/>
                </a:highlight>
                <a:latin typeface="Times New Roman"/>
                <a:ea typeface="+mn-lt"/>
                <a:cs typeface="Times New Roman"/>
              </a:rPr>
              <a:t>Automatically </a:t>
            </a:r>
            <a:r>
              <a:rPr lang="en-US">
                <a:highlight>
                  <a:srgbClr val="FFFFFF"/>
                </a:highlight>
                <a:latin typeface="Times New Roman"/>
                <a:ea typeface="+mn-lt"/>
                <a:cs typeface="Times New Roman"/>
              </a:rPr>
              <a:t>maps </a:t>
            </a:r>
            <a:r>
              <a:rPr lang="en-US" dirty="0">
                <a:highlight>
                  <a:srgbClr val="FFFFFF"/>
                </a:highlight>
                <a:latin typeface="Times New Roman"/>
                <a:ea typeface="+mn-lt"/>
                <a:cs typeface="Times New Roman"/>
              </a:rPr>
              <a:t>hidden patterns between varying loads </a:t>
            </a:r>
            <a:r>
              <a:rPr lang="en-US">
                <a:highlight>
                  <a:srgbClr val="FFFFFF"/>
                </a:highlight>
                <a:latin typeface="Times New Roman"/>
                <a:ea typeface="+mn-lt"/>
                <a:cs typeface="Times New Roman"/>
              </a:rPr>
              <a:t>– non-linear loads</a:t>
            </a:r>
            <a:endParaRPr lang="en-US"/>
          </a:p>
          <a:p>
            <a:pPr marL="285750" indent="-285750" algn="just">
              <a:buFont typeface="Arial"/>
              <a:buChar char="•"/>
            </a:pPr>
            <a:r>
              <a:rPr lang="en-US" dirty="0">
                <a:highlight>
                  <a:srgbClr val="FFFFFF"/>
                </a:highlight>
                <a:latin typeface="Times New Roman"/>
                <a:ea typeface="+mn-lt"/>
                <a:cs typeface="Times New Roman"/>
              </a:rPr>
              <a:t>Perfect Power Factor Control: Maintains 1.0 PF via Capacitor Bank</a:t>
            </a:r>
          </a:p>
          <a:p>
            <a:pPr marL="285750" indent="-285750" algn="just">
              <a:buFont typeface="Arial"/>
              <a:buChar char="•"/>
            </a:pPr>
            <a:r>
              <a:rPr lang="en-US">
                <a:highlight>
                  <a:srgbClr val="FFFFFF"/>
                </a:highlight>
                <a:latin typeface="Times New Roman"/>
                <a:ea typeface="+mn-lt"/>
                <a:cs typeface="Times New Roman"/>
              </a:rPr>
              <a:t>Handles </a:t>
            </a:r>
            <a:r>
              <a:rPr lang="en-US" dirty="0">
                <a:highlight>
                  <a:srgbClr val="FFFFFF"/>
                </a:highlight>
                <a:latin typeface="Times New Roman"/>
                <a:ea typeface="+mn-lt"/>
                <a:cs typeface="Times New Roman"/>
              </a:rPr>
              <a:t>complex grid data in milliseconds on ESP32 microcontroller</a:t>
            </a:r>
            <a:endParaRPr lang="en-US">
              <a:highlight>
                <a:srgbClr val="FFFFFF"/>
              </a:highlight>
              <a:latin typeface="Times New Roman"/>
              <a:ea typeface="+mn-lt"/>
              <a:cs typeface="Times New Roman"/>
            </a:endParaRPr>
          </a:p>
          <a:p>
            <a:pPr marL="285750" indent="-285750" algn="just">
              <a:buFont typeface="Arial"/>
              <a:buChar char="•"/>
            </a:pPr>
            <a:r>
              <a:rPr lang="en-US" dirty="0">
                <a:highlight>
                  <a:srgbClr val="FFFFFF"/>
                </a:highlight>
                <a:latin typeface="Times New Roman"/>
                <a:ea typeface="+mn-lt"/>
                <a:cs typeface="Times New Roman"/>
              </a:rPr>
              <a:t>Optimizes renewable sources (Solar and Wind) based on real-time load spikes and predictive weather patterns</a:t>
            </a:r>
            <a:endParaRPr lang="en-US">
              <a:highlight>
                <a:srgbClr val="FFFFFF"/>
              </a:highlight>
              <a:latin typeface="Times New Roman"/>
              <a:ea typeface="+mn-lt"/>
              <a:cs typeface="Times New Roman"/>
            </a:endParaRPr>
          </a:p>
          <a:p>
            <a:pPr marL="285750" indent="-285750" algn="just">
              <a:buFont typeface="Arial"/>
              <a:buChar char="•"/>
            </a:pPr>
            <a:r>
              <a:rPr lang="en-US">
                <a:highlight>
                  <a:srgbClr val="FFFFFF"/>
                </a:highlight>
                <a:latin typeface="Times New Roman"/>
                <a:ea typeface="+mn-lt"/>
                <a:cs typeface="Times New Roman"/>
              </a:rPr>
              <a:t>Improves efficiency, reliability, and sustainability of contemporary power systems</a:t>
            </a:r>
            <a:endParaRPr lang="en-US">
              <a:highlight>
                <a:srgbClr val="FFFFFF"/>
              </a:highlight>
              <a:latin typeface="Times New Roman"/>
              <a:cs typeface="Times New Roman"/>
            </a:endParaRPr>
          </a:p>
          <a:p>
            <a:pPr marL="285750" indent="-285750" algn="just">
              <a:buFont typeface="Arial"/>
              <a:buChar char="•"/>
            </a:pPr>
            <a:r>
              <a:rPr lang="en-US">
                <a:highlight>
                  <a:srgbClr val="FFFFFF"/>
                </a:highlight>
                <a:latin typeface="Times New Roman"/>
                <a:ea typeface="+mn-lt"/>
                <a:cs typeface="Times New Roman"/>
              </a:rPr>
              <a:t>Cohesive</a:t>
            </a:r>
            <a:r>
              <a:rPr lang="en-US" dirty="0">
                <a:highlight>
                  <a:srgbClr val="FFFFFF"/>
                </a:highlight>
                <a:latin typeface="Times New Roman"/>
                <a:ea typeface="+mn-lt"/>
                <a:cs typeface="Times New Roman"/>
              </a:rPr>
              <a:t>, </a:t>
            </a:r>
            <a:r>
              <a:rPr lang="en-US">
                <a:highlight>
                  <a:srgbClr val="FFFFFF"/>
                </a:highlight>
                <a:latin typeface="Times New Roman"/>
                <a:ea typeface="+mn-lt"/>
                <a:cs typeface="Times New Roman"/>
              </a:rPr>
              <a:t>self-regulating control with groundbreaking performance</a:t>
            </a:r>
            <a:endParaRPr lang="en-US">
              <a:highlight>
                <a:srgbClr val="FFFFFF"/>
              </a:highlight>
              <a:latin typeface="Times New Roman"/>
              <a:cs typeface="Times New Roman"/>
            </a:endParaRPr>
          </a:p>
        </p:txBody>
      </p:sp>
    </p:spTree>
    <p:extLst>
      <p:ext uri="{BB962C8B-B14F-4D97-AF65-F5344CB8AC3E}">
        <p14:creationId xmlns:p14="http://schemas.microsoft.com/office/powerpoint/2010/main" val="2717695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A391-3836-0591-C687-7017F97E4F0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00E0AC0-9205-C36C-3CB4-1C7E5F706031}"/>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F958965D-9883-995A-7787-15D402FB2240}"/>
              </a:ext>
            </a:extLst>
          </p:cNvPr>
          <p:cNvSpPr/>
          <p:nvPr/>
        </p:nvSpPr>
        <p:spPr>
          <a:xfrm>
            <a:off x="531962" y="1526875"/>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sp>
        <p:nvSpPr>
          <p:cNvPr id="9" name="TextBox 8">
            <a:extLst>
              <a:ext uri="{FF2B5EF4-FFF2-40B4-BE49-F238E27FC236}">
                <a16:creationId xmlns:a16="http://schemas.microsoft.com/office/drawing/2014/main" id="{20411E1F-F77C-C648-FADD-EA79F1EA75E3}"/>
              </a:ext>
            </a:extLst>
          </p:cNvPr>
          <p:cNvSpPr txBox="1"/>
          <p:nvPr/>
        </p:nvSpPr>
        <p:spPr>
          <a:xfrm>
            <a:off x="3040811" y="2078647"/>
            <a:ext cx="3050876" cy="400110"/>
          </a:xfrm>
          <a:prstGeom prst="rect">
            <a:avLst/>
          </a:prstGeom>
          <a:noFill/>
        </p:spPr>
        <p:txBody>
          <a:bodyPr wrap="square" lIns="91440" tIns="45720" rIns="91440" bIns="45720" rtlCol="0" anchor="ctr">
            <a:spAutoFit/>
          </a:bodyPr>
          <a:lstStyle/>
          <a:p>
            <a:pPr algn="ctr"/>
            <a:r>
              <a:rPr lang="en-US" sz="2000" b="1" dirty="0">
                <a:latin typeface="Times New Roman" pitchFamily="18" charset="0"/>
                <a:cs typeface="Times New Roman" pitchFamily="18" charset="0"/>
              </a:rPr>
              <a:t>LITERATURE REVIEW  </a:t>
            </a:r>
            <a:endParaRPr lang="en-US" dirty="0"/>
          </a:p>
        </p:txBody>
      </p:sp>
      <p:pic>
        <p:nvPicPr>
          <p:cNvPr id="3" name="Picture 2">
            <a:extLst>
              <a:ext uri="{FF2B5EF4-FFF2-40B4-BE49-F238E27FC236}">
                <a16:creationId xmlns:a16="http://schemas.microsoft.com/office/drawing/2014/main" id="{86EF9450-AEA4-D9A6-C793-09A7515717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graphicFrame>
        <p:nvGraphicFramePr>
          <p:cNvPr id="2" name="Content Placeholder 6">
            <a:extLst>
              <a:ext uri="{FF2B5EF4-FFF2-40B4-BE49-F238E27FC236}">
                <a16:creationId xmlns:a16="http://schemas.microsoft.com/office/drawing/2014/main" id="{8E6A05F8-6662-A0AC-2464-BBDB62831A79}"/>
              </a:ext>
            </a:extLst>
          </p:cNvPr>
          <p:cNvGraphicFramePr>
            <a:graphicFrameLocks/>
          </p:cNvGraphicFramePr>
          <p:nvPr>
            <p:extLst>
              <p:ext uri="{D42A27DB-BD31-4B8C-83A1-F6EECF244321}">
                <p14:modId xmlns:p14="http://schemas.microsoft.com/office/powerpoint/2010/main" val="4220712430"/>
              </p:ext>
            </p:extLst>
          </p:nvPr>
        </p:nvGraphicFramePr>
        <p:xfrm>
          <a:off x="1" y="2560451"/>
          <a:ext cx="9143989" cy="4141213"/>
        </p:xfrm>
        <a:graphic>
          <a:graphicData uri="http://schemas.openxmlformats.org/drawingml/2006/table">
            <a:tbl>
              <a:tblPr firstRow="1" bandRow="1">
                <a:tableStyleId>{5C22544A-7EE6-4342-B048-85BDC9FD1C3A}</a:tableStyleId>
              </a:tblPr>
              <a:tblGrid>
                <a:gridCol w="1250174">
                  <a:extLst>
                    <a:ext uri="{9D8B030D-6E8A-4147-A177-3AD203B41FA5}">
                      <a16:colId xmlns:a16="http://schemas.microsoft.com/office/drawing/2014/main" val="20000"/>
                    </a:ext>
                  </a:extLst>
                </a:gridCol>
                <a:gridCol w="577158">
                  <a:extLst>
                    <a:ext uri="{9D8B030D-6E8A-4147-A177-3AD203B41FA5}">
                      <a16:colId xmlns:a16="http://schemas.microsoft.com/office/drawing/2014/main" val="20001"/>
                    </a:ext>
                  </a:extLst>
                </a:gridCol>
                <a:gridCol w="2353900">
                  <a:extLst>
                    <a:ext uri="{9D8B030D-6E8A-4147-A177-3AD203B41FA5}">
                      <a16:colId xmlns:a16="http://schemas.microsoft.com/office/drawing/2014/main" val="20002"/>
                    </a:ext>
                  </a:extLst>
                </a:gridCol>
                <a:gridCol w="2240732">
                  <a:extLst>
                    <a:ext uri="{9D8B030D-6E8A-4147-A177-3AD203B41FA5}">
                      <a16:colId xmlns:a16="http://schemas.microsoft.com/office/drawing/2014/main" val="20003"/>
                    </a:ext>
                  </a:extLst>
                </a:gridCol>
                <a:gridCol w="2722025">
                  <a:extLst>
                    <a:ext uri="{9D8B030D-6E8A-4147-A177-3AD203B41FA5}">
                      <a16:colId xmlns:a16="http://schemas.microsoft.com/office/drawing/2014/main" val="20004"/>
                    </a:ext>
                  </a:extLst>
                </a:gridCol>
              </a:tblGrid>
              <a:tr h="421316">
                <a:tc>
                  <a:txBody>
                    <a:bodyPr/>
                    <a:lstStyle/>
                    <a:p>
                      <a:pPr algn="ctr">
                        <a:buNone/>
                      </a:pPr>
                      <a:r>
                        <a:rPr lang="en-US" sz="1000" b="1">
                          <a:latin typeface="Times New Roman"/>
                          <a:cs typeface="Times New Roman"/>
                        </a:rPr>
                        <a:t>Author </a:t>
                      </a:r>
                    </a:p>
                  </a:txBody>
                  <a:tcPr marL="0" marR="0" marT="0" marB="0" anchor="ctr">
                    <a:lnL w="0">
                      <a:noFill/>
                    </a:lnL>
                    <a:lnR w="0">
                      <a:noFill/>
                    </a:lnR>
                    <a:lnT w="0">
                      <a:noFill/>
                    </a:lnT>
                    <a:lnB w="0">
                      <a:noFill/>
                    </a:lnB>
                  </a:tcPr>
                </a:tc>
                <a:tc>
                  <a:txBody>
                    <a:bodyPr/>
                    <a:lstStyle/>
                    <a:p>
                      <a:pPr algn="ctr">
                        <a:buNone/>
                      </a:pPr>
                      <a:r>
                        <a:rPr lang="en-US" sz="1000" b="1">
                          <a:latin typeface="Times New Roman"/>
                          <a:cs typeface="Times New Roman"/>
                        </a:rPr>
                        <a:t>Year</a:t>
                      </a:r>
                    </a:p>
                  </a:txBody>
                  <a:tcPr marL="0" marR="0" marT="0" marB="0" anchor="ctr">
                    <a:lnL w="0">
                      <a:noFill/>
                    </a:lnL>
                    <a:lnR w="0">
                      <a:noFill/>
                    </a:lnR>
                    <a:lnT w="0">
                      <a:noFill/>
                    </a:lnT>
                    <a:lnB w="0">
                      <a:noFill/>
                    </a:lnB>
                  </a:tcPr>
                </a:tc>
                <a:tc>
                  <a:txBody>
                    <a:bodyPr/>
                    <a:lstStyle/>
                    <a:p>
                      <a:pPr algn="ctr">
                        <a:buNone/>
                      </a:pPr>
                      <a:r>
                        <a:rPr lang="en-US" sz="1000" b="1">
                          <a:latin typeface="Times New Roman"/>
                          <a:cs typeface="Times New Roman"/>
                        </a:rPr>
                        <a:t>Adopted scheme</a:t>
                      </a:r>
                    </a:p>
                  </a:txBody>
                  <a:tcPr marL="0" marR="0" marT="0" marB="0" anchor="ctr">
                    <a:lnL w="0">
                      <a:noFill/>
                    </a:lnL>
                    <a:lnR w="0">
                      <a:noFill/>
                    </a:lnR>
                    <a:lnT w="0">
                      <a:noFill/>
                    </a:lnT>
                    <a:lnB w="0">
                      <a:noFill/>
                    </a:lnB>
                  </a:tcPr>
                </a:tc>
                <a:tc>
                  <a:txBody>
                    <a:bodyPr/>
                    <a:lstStyle/>
                    <a:p>
                      <a:pPr algn="ctr">
                        <a:buNone/>
                      </a:pPr>
                      <a:r>
                        <a:rPr lang="en-US" sz="1000" b="1">
                          <a:latin typeface="Times New Roman"/>
                          <a:cs typeface="Times New Roman"/>
                        </a:rPr>
                        <a:t>Features</a:t>
                      </a:r>
                    </a:p>
                  </a:txBody>
                  <a:tcPr marL="0" marR="0" marT="0" marB="0" anchor="ctr">
                    <a:lnL w="0">
                      <a:noFill/>
                    </a:lnL>
                    <a:lnR w="0">
                      <a:noFill/>
                    </a:lnR>
                    <a:lnT w="0">
                      <a:noFill/>
                    </a:lnT>
                    <a:lnB w="0">
                      <a:noFill/>
                    </a:lnB>
                  </a:tcPr>
                </a:tc>
                <a:tc>
                  <a:txBody>
                    <a:bodyPr/>
                    <a:lstStyle/>
                    <a:p>
                      <a:pPr algn="ctr">
                        <a:buNone/>
                      </a:pPr>
                      <a:r>
                        <a:rPr lang="en-US" sz="1000" b="1">
                          <a:latin typeface="Times New Roman"/>
                          <a:cs typeface="Times New Roman"/>
                        </a:rPr>
                        <a:t>Challenges</a:t>
                      </a:r>
                    </a:p>
                  </a:txBody>
                  <a:tcPr marL="0" marR="0" marT="0" marB="0" anchor="ctr">
                    <a:lnL w="0">
                      <a:noFill/>
                    </a:lnL>
                    <a:lnR w="0">
                      <a:noFill/>
                    </a:lnR>
                    <a:lnT w="0">
                      <a:noFill/>
                    </a:lnT>
                    <a:lnB w="0">
                      <a:noFill/>
                    </a:lnB>
                  </a:tcPr>
                </a:tc>
                <a:extLst>
                  <a:ext uri="{0D108BD9-81ED-4DB2-BD59-A6C34878D82A}">
                    <a16:rowId xmlns:a16="http://schemas.microsoft.com/office/drawing/2014/main" val="10000"/>
                  </a:ext>
                </a:extLst>
              </a:tr>
              <a:tr h="875270">
                <a:tc>
                  <a:txBody>
                    <a:bodyPr/>
                    <a:lstStyle/>
                    <a:p>
                      <a:pPr lvl="0" algn="ctr">
                        <a:buNone/>
                      </a:pPr>
                      <a:r>
                        <a:rPr lang="en-US" sz="1000">
                          <a:latin typeface="Times New Roman"/>
                          <a:cs typeface="Times New Roman"/>
                        </a:rPr>
                        <a:t>Biswas et al.</a:t>
                      </a:r>
                    </a:p>
                  </a:txBody>
                  <a:tcPr marL="0" marR="0" marT="0" marB="0" anchor="ctr">
                    <a:lnL w="0">
                      <a:noFill/>
                    </a:lnL>
                    <a:lnR w="0">
                      <a:noFill/>
                    </a:lnR>
                    <a:lnT w="0">
                      <a:noFill/>
                    </a:lnT>
                    <a:lnB w="0">
                      <a:noFill/>
                    </a:lnB>
                  </a:tcPr>
                </a:tc>
                <a:tc>
                  <a:txBody>
                    <a:bodyPr/>
                    <a:lstStyle/>
                    <a:p>
                      <a:pPr lvl="0" algn="ctr">
                        <a:buNone/>
                      </a:pPr>
                      <a:r>
                        <a:rPr lang="en-IN" sz="1000">
                          <a:latin typeface="Times New Roman"/>
                          <a:cs typeface="Times New Roman"/>
                        </a:rPr>
                        <a:t>2025</a:t>
                      </a:r>
                    </a:p>
                  </a:txBody>
                  <a:tcPr marL="0" marR="0" marT="0" marB="0" anchor="ctr">
                    <a:lnL w="0">
                      <a:noFill/>
                    </a:lnL>
                    <a:lnR w="0">
                      <a:noFill/>
                    </a:lnR>
                    <a:lnT w="0">
                      <a:noFill/>
                    </a:lnT>
                    <a:lnB w="0">
                      <a:noFill/>
                    </a:lnB>
                  </a:tcPr>
                </a:tc>
                <a:tc>
                  <a:txBody>
                    <a:bodyPr/>
                    <a:lstStyle/>
                    <a:p>
                      <a:pPr lvl="0">
                        <a:buNone/>
                      </a:pPr>
                      <a:r>
                        <a:rPr lang="en-IN" sz="1000" b="0" i="0" u="none" strike="noStrike" noProof="0">
                          <a:latin typeface="Times New Roman"/>
                          <a:cs typeface="Times New Roman"/>
                        </a:rPr>
                        <a:t>AI frameworks for smart grid optimization including demand response, renewable forecasting, and real-time control</a:t>
                      </a:r>
                      <a:endParaRPr lang="en-US" sz="1000">
                        <a:latin typeface="Times New Roman"/>
                        <a:cs typeface="Times New Roman"/>
                      </a:endParaRPr>
                    </a:p>
                  </a:txBody>
                  <a:tcPr marL="0" marR="0" marT="0" marB="0" anchor="ctr">
                    <a:lnL w="0">
                      <a:noFill/>
                    </a:lnL>
                    <a:lnR w="0">
                      <a:noFill/>
                    </a:lnR>
                    <a:lnT w="0">
                      <a:noFill/>
                    </a:lnT>
                    <a:lnB w="0">
                      <a:noFill/>
                    </a:lnB>
                  </a:tcPr>
                </a:tc>
                <a:tc>
                  <a:txBody>
                    <a:bodyPr/>
                    <a:lstStyle/>
                    <a:p>
                      <a:pPr lvl="0">
                        <a:buNone/>
                      </a:pPr>
                      <a:r>
                        <a:rPr lang="en-US" sz="1000">
                          <a:latin typeface="Times New Roman"/>
                          <a:cs typeface="Times New Roman"/>
                        </a:rPr>
                        <a:t>Integration strategies for, IoT, and power quality management across grid scale operations</a:t>
                      </a:r>
                    </a:p>
                  </a:txBody>
                  <a:tcPr marL="0" marR="0" marT="0" marB="0" anchor="ctr">
                    <a:lnL w="0">
                      <a:noFill/>
                    </a:lnL>
                    <a:lnR w="0">
                      <a:noFill/>
                    </a:lnR>
                    <a:lnT w="0">
                      <a:noFill/>
                    </a:lnT>
                    <a:lnB w="0">
                      <a:noFill/>
                    </a:lnB>
                  </a:tcPr>
                </a:tc>
                <a:tc>
                  <a:txBody>
                    <a:bodyPr/>
                    <a:lstStyle/>
                    <a:p>
                      <a:pPr lvl="0">
                        <a:buNone/>
                      </a:pPr>
                      <a:r>
                        <a:rPr lang="en-IN" sz="1000" b="0" i="0" u="none" strike="noStrike" noProof="0">
                          <a:latin typeface="Times New Roman"/>
                          <a:cs typeface="Times New Roman"/>
                        </a:rPr>
                        <a:t>Broad review lacks specific implementation details for industrial PF correction and capacitor bank control hardware integration</a:t>
                      </a:r>
                      <a:endParaRPr lang="en-US" sz="1000">
                        <a:latin typeface="Times New Roman"/>
                        <a:cs typeface="Times New Roman"/>
                      </a:endParaRPr>
                    </a:p>
                  </a:txBody>
                  <a:tcPr marL="0" marR="0" marT="0" marB="0" anchor="ctr">
                    <a:lnL w="0">
                      <a:noFill/>
                    </a:lnL>
                    <a:lnR w="0">
                      <a:noFill/>
                    </a:lnR>
                    <a:lnT w="0">
                      <a:noFill/>
                    </a:lnT>
                    <a:lnB w="0">
                      <a:noFill/>
                    </a:lnB>
                  </a:tcPr>
                </a:tc>
                <a:extLst>
                  <a:ext uri="{0D108BD9-81ED-4DB2-BD59-A6C34878D82A}">
                    <a16:rowId xmlns:a16="http://schemas.microsoft.com/office/drawing/2014/main" val="10002"/>
                  </a:ext>
                </a:extLst>
              </a:tr>
              <a:tr h="1094087">
                <a:tc>
                  <a:txBody>
                    <a:bodyPr/>
                    <a:lstStyle/>
                    <a:p>
                      <a:pPr lvl="0" algn="ctr">
                        <a:buNone/>
                      </a:pPr>
                      <a:r>
                        <a:rPr lang="de-DE" sz="1000" b="0" i="0" u="none" strike="noStrike" noProof="0">
                          <a:solidFill>
                            <a:srgbClr val="000000"/>
                          </a:solidFill>
                          <a:latin typeface="Times New Roman"/>
                          <a:cs typeface="Times New Roman"/>
                        </a:rPr>
                        <a:t>Witharama et al.</a:t>
                      </a:r>
                      <a:endParaRPr lang="en-US" sz="1000">
                        <a:latin typeface="Times New Roman"/>
                        <a:cs typeface="Times New Roman"/>
                      </a:endParaRPr>
                    </a:p>
                  </a:txBody>
                  <a:tcPr marL="0" marR="0" marT="0" marB="0" anchor="ctr">
                    <a:lnL w="0">
                      <a:noFill/>
                    </a:lnL>
                    <a:lnR w="0">
                      <a:noFill/>
                    </a:lnR>
                    <a:lnT w="0">
                      <a:noFill/>
                    </a:lnT>
                    <a:lnB w="0">
                      <a:noFill/>
                    </a:lnB>
                  </a:tcPr>
                </a:tc>
                <a:tc>
                  <a:txBody>
                    <a:bodyPr/>
                    <a:lstStyle/>
                    <a:p>
                      <a:pPr lvl="0" algn="ctr">
                        <a:buNone/>
                      </a:pPr>
                      <a:r>
                        <a:rPr lang="en-US" sz="1000">
                          <a:latin typeface="Times New Roman"/>
                          <a:cs typeface="Times New Roman"/>
                        </a:rPr>
                        <a:t>2024</a:t>
                      </a:r>
                    </a:p>
                  </a:txBody>
                  <a:tcPr marL="0" marR="0" marT="0" marB="0" anchor="ctr">
                    <a:lnL w="0">
                      <a:noFill/>
                    </a:lnL>
                    <a:lnR w="0">
                      <a:noFill/>
                    </a:lnR>
                    <a:lnT w="0">
                      <a:noFill/>
                    </a:lnT>
                    <a:lnB w="0">
                      <a:noFill/>
                    </a:lnB>
                  </a:tcPr>
                </a:tc>
                <a:tc>
                  <a:txBody>
                    <a:bodyPr/>
                    <a:lstStyle/>
                    <a:p>
                      <a:pPr lvl="0">
                        <a:buNone/>
                      </a:pPr>
                      <a:r>
                        <a:rPr lang="en-IN" sz="1000" b="0" i="0" u="none" strike="noStrike" noProof="0">
                          <a:latin typeface="Times New Roman"/>
                          <a:cs typeface="Times New Roman"/>
                        </a:rPr>
                        <a:t>Advanced Genetic Algorithm with LightGBM forecasting for multi-objective microgrid optimization</a:t>
                      </a:r>
                      <a:endParaRPr lang="en-US" sz="1000">
                        <a:latin typeface="Times New Roman"/>
                        <a:cs typeface="Times New Roman"/>
                      </a:endParaRPr>
                    </a:p>
                  </a:txBody>
                  <a:tcPr marL="0" marR="0" marT="0" marB="0" anchor="ctr">
                    <a:lnL w="0">
                      <a:noFill/>
                    </a:lnL>
                    <a:lnR w="0">
                      <a:noFill/>
                    </a:lnR>
                    <a:lnT w="0">
                      <a:noFill/>
                    </a:lnT>
                    <a:lnB w="0">
                      <a:noFill/>
                    </a:lnB>
                  </a:tcPr>
                </a:tc>
                <a:tc>
                  <a:txBody>
                    <a:bodyPr/>
                    <a:lstStyle/>
                    <a:p>
                      <a:pPr lvl="0">
                        <a:buNone/>
                      </a:pPr>
                      <a:r>
                        <a:rPr lang="en-US" sz="1000">
                          <a:latin typeface="Times New Roman"/>
                          <a:cs typeface="Times New Roman"/>
                        </a:rPr>
                        <a:t>Comprehensive cost modeling including battery degradation and demand response coordination for long-term optimization</a:t>
                      </a:r>
                    </a:p>
                  </a:txBody>
                  <a:tcPr marL="0" marR="0" marT="0" marB="0" anchor="ctr">
                    <a:lnL w="0">
                      <a:noFill/>
                    </a:lnL>
                    <a:lnR w="0">
                      <a:noFill/>
                    </a:lnR>
                    <a:lnT w="0">
                      <a:noFill/>
                    </a:lnT>
                    <a:lnB w="0">
                      <a:noFill/>
                    </a:lnB>
                  </a:tcPr>
                </a:tc>
                <a:tc>
                  <a:txBody>
                    <a:bodyPr/>
                    <a:lstStyle/>
                    <a:p>
                      <a:pPr lvl="0">
                        <a:buNone/>
                      </a:pPr>
                      <a:r>
                        <a:rPr lang="en-US" sz="1000">
                          <a:latin typeface="Times New Roman"/>
                          <a:cs typeface="Times New Roman"/>
                        </a:rPr>
                        <a:t>Computationally intensive GA unsuitable for real-time PF correction requiring sub-second capacitor switching decisions</a:t>
                      </a:r>
                    </a:p>
                  </a:txBody>
                  <a:tcPr marL="0" marR="0" marT="0" marB="0" anchor="ctr">
                    <a:lnL w="0">
                      <a:noFill/>
                    </a:lnL>
                    <a:lnR w="0">
                      <a:noFill/>
                    </a:lnR>
                    <a:lnT w="0">
                      <a:noFill/>
                    </a:lnT>
                    <a:lnB w="0">
                      <a:noFill/>
                    </a:lnB>
                  </a:tcPr>
                </a:tc>
                <a:extLst>
                  <a:ext uri="{0D108BD9-81ED-4DB2-BD59-A6C34878D82A}">
                    <a16:rowId xmlns:a16="http://schemas.microsoft.com/office/drawing/2014/main" val="10003"/>
                  </a:ext>
                </a:extLst>
              </a:tr>
              <a:tr h="875270">
                <a:tc>
                  <a:txBody>
                    <a:bodyPr/>
                    <a:lstStyle/>
                    <a:p>
                      <a:pPr lvl="0" algn="ctr">
                        <a:buNone/>
                      </a:pPr>
                      <a:r>
                        <a:rPr lang="en-US" sz="1000">
                          <a:latin typeface="Times New Roman"/>
                          <a:cs typeface="Times New Roman"/>
                        </a:rPr>
                        <a:t>Jat et al.</a:t>
                      </a:r>
                    </a:p>
                  </a:txBody>
                  <a:tcPr marL="0" marR="0" marT="0" marB="0" anchor="ctr">
                    <a:lnT w="0">
                      <a:noFill/>
                    </a:lnT>
                    <a:lnB w="0">
                      <a:noFill/>
                    </a:lnB>
                  </a:tcPr>
                </a:tc>
                <a:tc>
                  <a:txBody>
                    <a:bodyPr/>
                    <a:lstStyle/>
                    <a:p>
                      <a:pPr lvl="0" algn="ctr">
                        <a:buNone/>
                      </a:pPr>
                      <a:r>
                        <a:rPr lang="en-IN" sz="1000">
                          <a:latin typeface="Times New Roman"/>
                          <a:cs typeface="Times New Roman"/>
                        </a:rPr>
                        <a:t>2024</a:t>
                      </a:r>
                      <a:endParaRPr lang="en-US" sz="1000">
                        <a:latin typeface="Times New Roman"/>
                        <a:cs typeface="Times New Roman"/>
                      </a:endParaRPr>
                    </a:p>
                  </a:txBody>
                  <a:tcPr marL="0" marR="0" marT="0" marB="0" anchor="ctr">
                    <a:lnT w="0">
                      <a:noFill/>
                    </a:lnT>
                    <a:lnB w="0">
                      <a:noFill/>
                    </a:lnB>
                  </a:tcPr>
                </a:tc>
                <a:tc>
                  <a:txBody>
                    <a:bodyPr/>
                    <a:lstStyle/>
                    <a:p>
                      <a:pPr lvl="0" algn="l">
                        <a:buNone/>
                      </a:pPr>
                      <a:r>
                        <a:rPr lang="en-IN" sz="1000" b="0" i="0" u="none" strike="noStrike" noProof="0">
                          <a:latin typeface="Times New Roman"/>
                          <a:cs typeface="Times New Roman"/>
                        </a:rPr>
                        <a:t>AI/ML controllers (neural networks, fuzzy logic) for PV grid stabilization</a:t>
                      </a:r>
                      <a:endParaRPr lang="en-US" sz="1000">
                        <a:latin typeface="Times New Roman"/>
                        <a:cs typeface="Times New Roman"/>
                      </a:endParaRPr>
                    </a:p>
                  </a:txBody>
                  <a:tcPr marL="0" marR="0" marT="0" marB="0" anchor="ctr">
                    <a:lnT w="0">
                      <a:noFill/>
                    </a:lnT>
                    <a:lnB w="0">
                      <a:noFill/>
                    </a:lnB>
                  </a:tcPr>
                </a:tc>
                <a:tc>
                  <a:txBody>
                    <a:bodyPr/>
                    <a:lstStyle/>
                    <a:p>
                      <a:pPr lvl="0" algn="l">
                        <a:buNone/>
                      </a:pPr>
                      <a:r>
                        <a:rPr lang="en-US" sz="1000">
                          <a:latin typeface="Times New Roman"/>
                          <a:cs typeface="Times New Roman"/>
                        </a:rPr>
                        <a:t>Real-time fluctuation mitigation and reactive power management for renewable integration</a:t>
                      </a:r>
                    </a:p>
                  </a:txBody>
                  <a:tcPr marL="0" marR="0" marT="0" marB="0" anchor="ctr">
                    <a:lnT w="0">
                      <a:noFill/>
                    </a:lnT>
                    <a:lnB w="0">
                      <a:noFill/>
                    </a:lnB>
                  </a:tcPr>
                </a:tc>
                <a:tc>
                  <a:txBody>
                    <a:bodyPr/>
                    <a:lstStyle/>
                    <a:p>
                      <a:pPr lvl="0" algn="l">
                        <a:buNone/>
                      </a:pPr>
                      <a:r>
                        <a:rPr lang="en-IN" sz="1000" b="0" i="0" u="none" strike="noStrike" noProof="0">
                          <a:latin typeface="Times New Roman"/>
                          <a:cs typeface="Times New Roman"/>
                        </a:rPr>
                        <a:t>Solar PV-specific focus requires adaptation for general industrial load PF correction scenarios</a:t>
                      </a:r>
                      <a:endParaRPr lang="en-US" sz="1000">
                        <a:latin typeface="Times New Roman"/>
                        <a:cs typeface="Times New Roman"/>
                      </a:endParaRPr>
                    </a:p>
                  </a:txBody>
                  <a:tcPr marL="0" marR="0" marT="0" marB="0" anchor="ctr">
                    <a:lnT w="0">
                      <a:noFill/>
                    </a:lnT>
                    <a:lnB w="0">
                      <a:noFill/>
                    </a:lnB>
                  </a:tcPr>
                </a:tc>
                <a:extLst>
                  <a:ext uri="{0D108BD9-81ED-4DB2-BD59-A6C34878D82A}">
                    <a16:rowId xmlns:a16="http://schemas.microsoft.com/office/drawing/2014/main" val="2796701446"/>
                  </a:ext>
                </a:extLst>
              </a:tr>
              <a:tr h="875270">
                <a:tc>
                  <a:txBody>
                    <a:bodyPr/>
                    <a:lstStyle/>
                    <a:p>
                      <a:pPr lvl="0" algn="ctr">
                        <a:buNone/>
                      </a:pPr>
                      <a:r>
                        <a:rPr lang="en-IN" sz="1000" b="0" i="0" u="none" strike="noStrike" noProof="0">
                          <a:solidFill>
                            <a:srgbClr val="000000"/>
                          </a:solidFill>
                          <a:latin typeface="Times New Roman"/>
                          <a:cs typeface="Times New Roman"/>
                        </a:rPr>
                        <a:t>Farsi et al.</a:t>
                      </a:r>
                      <a:endParaRPr lang="en-US" sz="1000">
                        <a:latin typeface="Times New Roman"/>
                        <a:cs typeface="Times New Roman"/>
                      </a:endParaRPr>
                    </a:p>
                  </a:txBody>
                  <a:tcPr marL="0" marR="0" marT="0" marB="0" anchor="ctr">
                    <a:lnT>
                      <a:noFill/>
                    </a:lnT>
                  </a:tcPr>
                </a:tc>
                <a:tc>
                  <a:txBody>
                    <a:bodyPr/>
                    <a:lstStyle/>
                    <a:p>
                      <a:pPr lvl="0" algn="ctr">
                        <a:buNone/>
                      </a:pPr>
                      <a:r>
                        <a:rPr lang="en-IN" sz="1000">
                          <a:latin typeface="Times New Roman"/>
                          <a:cs typeface="Times New Roman"/>
                        </a:rPr>
                        <a:t>2021</a:t>
                      </a:r>
                      <a:endParaRPr lang="en-US" sz="1000">
                        <a:latin typeface="Times New Roman"/>
                        <a:cs typeface="Times New Roman"/>
                      </a:endParaRPr>
                    </a:p>
                  </a:txBody>
                  <a:tcPr marL="0" marR="0" marT="0" marB="0" anchor="ctr">
                    <a:lnT>
                      <a:noFill/>
                    </a:lnT>
                  </a:tcPr>
                </a:tc>
                <a:tc>
                  <a:txBody>
                    <a:bodyPr/>
                    <a:lstStyle/>
                    <a:p>
                      <a:pPr lvl="0" algn="l">
                        <a:buNone/>
                      </a:pPr>
                      <a:r>
                        <a:rPr lang="en-US" sz="1000">
                          <a:latin typeface="Times New Roman"/>
                          <a:cs typeface="Times New Roman"/>
                        </a:rPr>
                        <a:t>Parallel Deep LSTM-CNN hybrid model for short-term load prediction</a:t>
                      </a:r>
                    </a:p>
                  </a:txBody>
                  <a:tcPr marL="0" marR="0" marT="0" marB="0" anchor="ctr">
                    <a:lnT>
                      <a:noFill/>
                    </a:lnT>
                  </a:tcPr>
                </a:tc>
                <a:tc>
                  <a:txBody>
                    <a:bodyPr/>
                    <a:lstStyle/>
                    <a:p>
                      <a:pPr lvl="0" algn="l">
                        <a:buNone/>
                      </a:pPr>
                      <a:r>
                        <a:rPr lang="en-US" sz="1000">
                          <a:latin typeface="Times New Roman"/>
                          <a:cs typeface="Times New Roman"/>
                        </a:rPr>
                        <a:t>Superior temporal pattern capture and spatial feature extraction for accurate demand forecasting</a:t>
                      </a:r>
                    </a:p>
                  </a:txBody>
                  <a:tcPr marL="0" marR="0" marT="0" marB="0" anchor="ctr">
                    <a:lnT>
                      <a:noFill/>
                    </a:lnT>
                  </a:tcPr>
                </a:tc>
                <a:tc>
                  <a:txBody>
                    <a:bodyPr/>
                    <a:lstStyle/>
                    <a:p>
                      <a:pPr lvl="0" algn="l">
                        <a:buNone/>
                      </a:pPr>
                      <a:r>
                        <a:rPr lang="en-IN" sz="1000">
                          <a:latin typeface="Times New Roman"/>
                          <a:cs typeface="Times New Roman"/>
                        </a:rPr>
                        <a:t>High computational complexity of parallel architecture</a:t>
                      </a:r>
                      <a:endParaRPr lang="en-US" sz="1000">
                        <a:latin typeface="Times New Roman"/>
                        <a:cs typeface="Times New Roman"/>
                      </a:endParaRPr>
                    </a:p>
                  </a:txBody>
                  <a:tcPr marL="0" marR="0" marT="0" marB="0" anchor="ctr">
                    <a:lnT>
                      <a:noFill/>
                    </a:lnT>
                  </a:tcPr>
                </a:tc>
                <a:extLst>
                  <a:ext uri="{0D108BD9-81ED-4DB2-BD59-A6C34878D82A}">
                    <a16:rowId xmlns:a16="http://schemas.microsoft.com/office/drawing/2014/main" val="3785380298"/>
                  </a:ext>
                </a:extLst>
              </a:tr>
            </a:tbl>
          </a:graphicData>
        </a:graphic>
      </p:graphicFrame>
    </p:spTree>
    <p:extLst>
      <p:ext uri="{BB962C8B-B14F-4D97-AF65-F5344CB8AC3E}">
        <p14:creationId xmlns:p14="http://schemas.microsoft.com/office/powerpoint/2010/main" val="4083605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2CB47-17BB-4ECE-3DBD-6FF583A955D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9AD7BB7-8A78-ABB2-6F5B-E5F942DC373D}"/>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8325561E-B3DF-4505-0530-1748053C4600}"/>
              </a:ext>
            </a:extLst>
          </p:cNvPr>
          <p:cNvSpPr/>
          <p:nvPr/>
        </p:nvSpPr>
        <p:spPr>
          <a:xfrm>
            <a:off x="531962" y="1526875"/>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sp>
        <p:nvSpPr>
          <p:cNvPr id="9" name="TextBox 8">
            <a:extLst>
              <a:ext uri="{FF2B5EF4-FFF2-40B4-BE49-F238E27FC236}">
                <a16:creationId xmlns:a16="http://schemas.microsoft.com/office/drawing/2014/main" id="{69161655-E9AD-DA16-EB26-0F7B488DAEF1}"/>
              </a:ext>
            </a:extLst>
          </p:cNvPr>
          <p:cNvSpPr txBox="1"/>
          <p:nvPr/>
        </p:nvSpPr>
        <p:spPr>
          <a:xfrm>
            <a:off x="3040811" y="1983179"/>
            <a:ext cx="3050876" cy="400110"/>
          </a:xfrm>
          <a:prstGeom prst="rect">
            <a:avLst/>
          </a:prstGeom>
          <a:noFill/>
        </p:spPr>
        <p:txBody>
          <a:bodyPr wrap="square" lIns="91440" tIns="45720" rIns="91440" bIns="45720" rtlCol="0" anchor="ctr">
            <a:spAutoFit/>
          </a:bodyPr>
          <a:lstStyle/>
          <a:p>
            <a:pPr algn="ctr"/>
            <a:r>
              <a:rPr lang="en-US" sz="2000" b="1" dirty="0">
                <a:latin typeface="Times New Roman" pitchFamily="18" charset="0"/>
                <a:cs typeface="Times New Roman" pitchFamily="18" charset="0"/>
              </a:rPr>
              <a:t>LITERATURE REVIEW  </a:t>
            </a:r>
            <a:endParaRPr lang="en-US" dirty="0"/>
          </a:p>
        </p:txBody>
      </p:sp>
      <p:pic>
        <p:nvPicPr>
          <p:cNvPr id="3" name="Picture 2">
            <a:extLst>
              <a:ext uri="{FF2B5EF4-FFF2-40B4-BE49-F238E27FC236}">
                <a16:creationId xmlns:a16="http://schemas.microsoft.com/office/drawing/2014/main" id="{197EA0AB-0D04-B970-0BD7-32CC2659CC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graphicFrame>
        <p:nvGraphicFramePr>
          <p:cNvPr id="2" name="Content Placeholder 6">
            <a:extLst>
              <a:ext uri="{FF2B5EF4-FFF2-40B4-BE49-F238E27FC236}">
                <a16:creationId xmlns:a16="http://schemas.microsoft.com/office/drawing/2014/main" id="{C1AEC039-4FD7-212A-57C3-68BF93CD8657}"/>
              </a:ext>
            </a:extLst>
          </p:cNvPr>
          <p:cNvGraphicFramePr>
            <a:graphicFrameLocks/>
          </p:cNvGraphicFramePr>
          <p:nvPr>
            <p:extLst>
              <p:ext uri="{D42A27DB-BD31-4B8C-83A1-F6EECF244321}">
                <p14:modId xmlns:p14="http://schemas.microsoft.com/office/powerpoint/2010/main" val="1155844322"/>
              </p:ext>
            </p:extLst>
          </p:nvPr>
        </p:nvGraphicFramePr>
        <p:xfrm>
          <a:off x="-3939" y="2387014"/>
          <a:ext cx="9132669" cy="1961321"/>
        </p:xfrm>
        <a:graphic>
          <a:graphicData uri="http://schemas.openxmlformats.org/drawingml/2006/table">
            <a:tbl>
              <a:tblPr firstRow="1" bandRow="1">
                <a:tableStyleId>{5C22544A-7EE6-4342-B048-85BDC9FD1C3A}</a:tableStyleId>
              </a:tblPr>
              <a:tblGrid>
                <a:gridCol w="1248626">
                  <a:extLst>
                    <a:ext uri="{9D8B030D-6E8A-4147-A177-3AD203B41FA5}">
                      <a16:colId xmlns:a16="http://schemas.microsoft.com/office/drawing/2014/main" val="20000"/>
                    </a:ext>
                  </a:extLst>
                </a:gridCol>
                <a:gridCol w="576442">
                  <a:extLst>
                    <a:ext uri="{9D8B030D-6E8A-4147-A177-3AD203B41FA5}">
                      <a16:colId xmlns:a16="http://schemas.microsoft.com/office/drawing/2014/main" val="20001"/>
                    </a:ext>
                  </a:extLst>
                </a:gridCol>
                <a:gridCol w="2434836">
                  <a:extLst>
                    <a:ext uri="{9D8B030D-6E8A-4147-A177-3AD203B41FA5}">
                      <a16:colId xmlns:a16="http://schemas.microsoft.com/office/drawing/2014/main" val="20002"/>
                    </a:ext>
                  </a:extLst>
                </a:gridCol>
                <a:gridCol w="2638682">
                  <a:extLst>
                    <a:ext uri="{9D8B030D-6E8A-4147-A177-3AD203B41FA5}">
                      <a16:colId xmlns:a16="http://schemas.microsoft.com/office/drawing/2014/main" val="20003"/>
                    </a:ext>
                  </a:extLst>
                </a:gridCol>
                <a:gridCol w="2234083">
                  <a:extLst>
                    <a:ext uri="{9D8B030D-6E8A-4147-A177-3AD203B41FA5}">
                      <a16:colId xmlns:a16="http://schemas.microsoft.com/office/drawing/2014/main" val="20004"/>
                    </a:ext>
                  </a:extLst>
                </a:gridCol>
              </a:tblGrid>
              <a:tr h="210782">
                <a:tc>
                  <a:txBody>
                    <a:bodyPr/>
                    <a:lstStyle/>
                    <a:p>
                      <a:pPr algn="ctr">
                        <a:buNone/>
                      </a:pPr>
                      <a:r>
                        <a:rPr lang="en-US" sz="1000" b="1">
                          <a:latin typeface="Times New Roman"/>
                          <a:cs typeface="Times New Roman"/>
                        </a:rPr>
                        <a:t>Author </a:t>
                      </a:r>
                    </a:p>
                  </a:txBody>
                  <a:tcPr marL="0" marR="0" marT="0" marB="0" anchor="ctr"/>
                </a:tc>
                <a:tc>
                  <a:txBody>
                    <a:bodyPr/>
                    <a:lstStyle/>
                    <a:p>
                      <a:pPr algn="ctr">
                        <a:buNone/>
                      </a:pPr>
                      <a:r>
                        <a:rPr lang="en-US" sz="1000" b="1">
                          <a:latin typeface="Times New Roman"/>
                          <a:cs typeface="Times New Roman"/>
                        </a:rPr>
                        <a:t>Year</a:t>
                      </a:r>
                    </a:p>
                  </a:txBody>
                  <a:tcPr marL="0" marR="0" marT="0" marB="0" anchor="ctr"/>
                </a:tc>
                <a:tc>
                  <a:txBody>
                    <a:bodyPr/>
                    <a:lstStyle/>
                    <a:p>
                      <a:pPr algn="ctr">
                        <a:buNone/>
                      </a:pPr>
                      <a:r>
                        <a:rPr lang="en-US" sz="1000" b="1">
                          <a:latin typeface="Times New Roman"/>
                          <a:cs typeface="Times New Roman"/>
                        </a:rPr>
                        <a:t>Adopted scheme</a:t>
                      </a:r>
                    </a:p>
                  </a:txBody>
                  <a:tcPr marL="0" marR="0" marT="0" marB="0" anchor="ctr"/>
                </a:tc>
                <a:tc>
                  <a:txBody>
                    <a:bodyPr/>
                    <a:lstStyle/>
                    <a:p>
                      <a:pPr algn="ctr">
                        <a:buNone/>
                      </a:pPr>
                      <a:r>
                        <a:rPr lang="en-US" sz="1000" b="1">
                          <a:latin typeface="Times New Roman"/>
                          <a:cs typeface="Times New Roman"/>
                        </a:rPr>
                        <a:t>Features</a:t>
                      </a:r>
                    </a:p>
                  </a:txBody>
                  <a:tcPr marL="0" marR="0" marT="0" marB="0" anchor="ctr"/>
                </a:tc>
                <a:tc>
                  <a:txBody>
                    <a:bodyPr/>
                    <a:lstStyle/>
                    <a:p>
                      <a:pPr algn="ctr">
                        <a:buNone/>
                      </a:pPr>
                      <a:r>
                        <a:rPr lang="en-US" sz="1000" b="1">
                          <a:latin typeface="Times New Roman"/>
                          <a:cs typeface="Times New Roman"/>
                        </a:rPr>
                        <a:t>Challenges</a:t>
                      </a:r>
                    </a:p>
                  </a:txBody>
                  <a:tcPr marL="0" marR="0" marT="0" marB="0" anchor="ctr"/>
                </a:tc>
                <a:extLst>
                  <a:ext uri="{0D108BD9-81ED-4DB2-BD59-A6C34878D82A}">
                    <a16:rowId xmlns:a16="http://schemas.microsoft.com/office/drawing/2014/main" val="10000"/>
                  </a:ext>
                </a:extLst>
              </a:tr>
              <a:tr h="656452">
                <a:tc>
                  <a:txBody>
                    <a:bodyPr/>
                    <a:lstStyle/>
                    <a:p>
                      <a:pPr lvl="0" algn="ctr">
                        <a:buNone/>
                      </a:pPr>
                      <a:r>
                        <a:rPr lang="en-IN" sz="1000" b="0" i="0" u="none" strike="noStrike" noProof="0">
                          <a:solidFill>
                            <a:srgbClr val="000000"/>
                          </a:solidFill>
                          <a:latin typeface="Times New Roman"/>
                          <a:cs typeface="Times New Roman"/>
                        </a:rPr>
                        <a:t>Mishra et al.</a:t>
                      </a:r>
                      <a:endParaRPr lang="en-US" sz="1000">
                        <a:latin typeface="Times New Roman"/>
                        <a:cs typeface="Times New Roman"/>
                      </a:endParaRPr>
                    </a:p>
                  </a:txBody>
                  <a:tcPr marL="0" marR="0" marT="0" marB="0" anchor="ctr"/>
                </a:tc>
                <a:tc>
                  <a:txBody>
                    <a:bodyPr/>
                    <a:lstStyle/>
                    <a:p>
                      <a:pPr algn="ctr">
                        <a:buNone/>
                      </a:pPr>
                      <a:r>
                        <a:rPr lang="en-US" sz="1000">
                          <a:latin typeface="Times New Roman"/>
                          <a:cs typeface="Times New Roman"/>
                        </a:rPr>
                        <a:t>2020</a:t>
                      </a:r>
                    </a:p>
                  </a:txBody>
                  <a:tcPr marL="0" marR="0" marT="0" marB="0" anchor="ctr"/>
                </a:tc>
                <a:tc>
                  <a:txBody>
                    <a:bodyPr/>
                    <a:lstStyle/>
                    <a:p>
                      <a:pPr lvl="0" algn="l">
                        <a:buNone/>
                      </a:pPr>
                      <a:r>
                        <a:rPr lang="en-US" sz="1000">
                          <a:latin typeface="Times New Roman"/>
                          <a:cs typeface="Times New Roman"/>
                        </a:rPr>
                        <a:t>Dynamic load balancing algorithms for resource optimization</a:t>
                      </a:r>
                    </a:p>
                  </a:txBody>
                  <a:tcPr marL="0" marR="0" marT="0" marB="0" anchor="ctr"/>
                </a:tc>
                <a:tc>
                  <a:txBody>
                    <a:bodyPr/>
                    <a:lstStyle/>
                    <a:p>
                      <a:pPr lvl="0" algn="l">
                        <a:buNone/>
                      </a:pPr>
                      <a:r>
                        <a:rPr lang="en-US" sz="1000">
                          <a:latin typeface="Times New Roman"/>
                          <a:cs typeface="Times New Roman"/>
                        </a:rPr>
                        <a:t>Multi-criteria load distribution strategies adaptable to power system demand management scenarios</a:t>
                      </a:r>
                    </a:p>
                  </a:txBody>
                  <a:tcPr marL="0" marR="0" marT="0" marB="0" anchor="ctr"/>
                </a:tc>
                <a:tc>
                  <a:txBody>
                    <a:bodyPr/>
                    <a:lstStyle/>
                    <a:p>
                      <a:pPr algn="l">
                        <a:buNone/>
                      </a:pPr>
                      <a:r>
                        <a:rPr lang="en-US" sz="1000">
                          <a:latin typeface="Times New Roman"/>
                          <a:cs typeface="Times New Roman"/>
                        </a:rPr>
                        <a:t>Cloud computing with real-time electrical power constraints</a:t>
                      </a:r>
                    </a:p>
                  </a:txBody>
                  <a:tcPr marL="0" marR="0" marT="0" marB="0" anchor="ctr"/>
                </a:tc>
                <a:extLst>
                  <a:ext uri="{0D108BD9-81ED-4DB2-BD59-A6C34878D82A}">
                    <a16:rowId xmlns:a16="http://schemas.microsoft.com/office/drawing/2014/main" val="10005"/>
                  </a:ext>
                </a:extLst>
              </a:tr>
              <a:tr h="1094087">
                <a:tc>
                  <a:txBody>
                    <a:bodyPr/>
                    <a:lstStyle/>
                    <a:p>
                      <a:pPr lvl="0" algn="ctr">
                        <a:buNone/>
                      </a:pPr>
                      <a:r>
                        <a:rPr lang="en-IN" sz="1000" b="0" i="0" u="none" strike="noStrike" noProof="0">
                          <a:solidFill>
                            <a:srgbClr val="000000"/>
                          </a:solidFill>
                          <a:latin typeface="Times New Roman"/>
                          <a:cs typeface="Times New Roman"/>
                        </a:rPr>
                        <a:t>Swarna Priya </a:t>
                      </a:r>
                      <a:endParaRPr lang="en-US" sz="1000">
                        <a:latin typeface="Times New Roman"/>
                        <a:cs typeface="Times New Roman"/>
                      </a:endParaRPr>
                    </a:p>
                    <a:p>
                      <a:pPr lvl="0" algn="ctr">
                        <a:buNone/>
                      </a:pPr>
                      <a:r>
                        <a:rPr lang="en-IN" sz="1000" b="0" i="0" u="none" strike="noStrike" noProof="0">
                          <a:solidFill>
                            <a:srgbClr val="000000"/>
                          </a:solidFill>
                          <a:latin typeface="Times New Roman"/>
                          <a:cs typeface="Times New Roman"/>
                        </a:rPr>
                        <a:t>et al.</a:t>
                      </a:r>
                      <a:endParaRPr lang="en-US" sz="1000">
                        <a:latin typeface="Times New Roman"/>
                        <a:cs typeface="Times New Roman"/>
                      </a:endParaRPr>
                    </a:p>
                  </a:txBody>
                  <a:tcPr marL="0" marR="0" marT="0" marB="0" anchor="ctr">
                    <a:lnL w="0">
                      <a:noFill/>
                    </a:lnL>
                    <a:lnR w="0">
                      <a:noFill/>
                    </a:lnR>
                    <a:lnB w="0">
                      <a:noFill/>
                    </a:lnB>
                  </a:tcPr>
                </a:tc>
                <a:tc>
                  <a:txBody>
                    <a:bodyPr/>
                    <a:lstStyle/>
                    <a:p>
                      <a:pPr lvl="0" algn="ctr">
                        <a:buNone/>
                      </a:pPr>
                      <a:r>
                        <a:rPr lang="en-IN" sz="1000">
                          <a:latin typeface="Times New Roman"/>
                          <a:cs typeface="Times New Roman"/>
                        </a:rPr>
                        <a:t>2020</a:t>
                      </a:r>
                      <a:endParaRPr lang="en-US" sz="1000">
                        <a:latin typeface="Times New Roman"/>
                        <a:cs typeface="Times New Roman"/>
                      </a:endParaRPr>
                    </a:p>
                  </a:txBody>
                  <a:tcPr marL="0" marR="0" marT="0" marB="0" anchor="ctr">
                    <a:lnL w="0">
                      <a:noFill/>
                    </a:lnL>
                    <a:lnR w="0">
                      <a:noFill/>
                    </a:lnR>
                    <a:lnB w="0">
                      <a:noFill/>
                    </a:lnB>
                  </a:tcPr>
                </a:tc>
                <a:tc>
                  <a:txBody>
                    <a:bodyPr/>
                    <a:lstStyle/>
                    <a:p>
                      <a:pPr lvl="0">
                        <a:buNone/>
                      </a:pPr>
                      <a:r>
                        <a:rPr lang="en-US" sz="1000">
                          <a:latin typeface="Times New Roman"/>
                          <a:cs typeface="Times New Roman"/>
                        </a:rPr>
                        <a:t>Hybrid Wind Driven Optimization (WDO) + Firefly Algorithm for IoE energy cloud clustering and CH selection</a:t>
                      </a:r>
                    </a:p>
                  </a:txBody>
                  <a:tcPr marL="0" marR="0" marT="0" marB="0" anchor="ctr">
                    <a:lnL w="0">
                      <a:noFill/>
                    </a:lnL>
                    <a:lnR w="0">
                      <a:noFill/>
                    </a:lnR>
                    <a:lnB w="0">
                      <a:noFill/>
                    </a:lnB>
                  </a:tcPr>
                </a:tc>
                <a:tc>
                  <a:txBody>
                    <a:bodyPr/>
                    <a:lstStyle/>
                    <a:p>
                      <a:pPr lvl="0">
                        <a:buNone/>
                      </a:pPr>
                      <a:r>
                        <a:rPr lang="en-US" sz="1000">
                          <a:latin typeface="Times New Roman"/>
                          <a:cs typeface="Times New Roman"/>
                        </a:rPr>
                        <a:t>Bio-inspired optimization for energy-efficient load distribution across distributed IoT networks</a:t>
                      </a:r>
                    </a:p>
                  </a:txBody>
                  <a:tcPr marL="0" marR="0" marT="0" marB="0" anchor="ctr">
                    <a:lnL w="0">
                      <a:noFill/>
                    </a:lnL>
                    <a:lnR w="0">
                      <a:noFill/>
                    </a:lnR>
                    <a:lnB w="0">
                      <a:noFill/>
                    </a:lnB>
                  </a:tcPr>
                </a:tc>
                <a:tc>
                  <a:txBody>
                    <a:bodyPr/>
                    <a:lstStyle/>
                    <a:p>
                      <a:pPr lvl="0">
                        <a:buNone/>
                      </a:pPr>
                      <a:r>
                        <a:rPr lang="en-IN" sz="1000" b="0" i="0" u="none" strike="noStrike" noProof="0">
                          <a:latin typeface="Times New Roman"/>
                          <a:cs typeface="Times New Roman"/>
                        </a:rPr>
                        <a:t>Energy cloud IoE focus incompatible with single-site industrial PF correction requiring deterministic real-time capacitor switching</a:t>
                      </a:r>
                      <a:endParaRPr lang="en-US" sz="1000">
                        <a:latin typeface="Times New Roman"/>
                        <a:cs typeface="Times New Roman"/>
                      </a:endParaRPr>
                    </a:p>
                  </a:txBody>
                  <a:tcPr marL="0" marR="0" marT="0" marB="0" anchor="ctr">
                    <a:lnL w="0">
                      <a:noFill/>
                    </a:lnL>
                    <a:lnR w="0">
                      <a:noFill/>
                    </a:lnR>
                    <a:lnB w="0">
                      <a:noFill/>
                    </a:lnB>
                  </a:tcPr>
                </a:tc>
                <a:extLst>
                  <a:ext uri="{0D108BD9-81ED-4DB2-BD59-A6C34878D82A}">
                    <a16:rowId xmlns:a16="http://schemas.microsoft.com/office/drawing/2014/main" val="2178321150"/>
                  </a:ext>
                </a:extLst>
              </a:tr>
            </a:tbl>
          </a:graphicData>
        </a:graphic>
      </p:graphicFrame>
      <p:sp>
        <p:nvSpPr>
          <p:cNvPr id="5" name="TextBox 4">
            <a:extLst>
              <a:ext uri="{FF2B5EF4-FFF2-40B4-BE49-F238E27FC236}">
                <a16:creationId xmlns:a16="http://schemas.microsoft.com/office/drawing/2014/main" id="{96B0C911-2B7F-344D-B20C-B4501D1D0189}"/>
              </a:ext>
            </a:extLst>
          </p:cNvPr>
          <p:cNvSpPr txBox="1"/>
          <p:nvPr/>
        </p:nvSpPr>
        <p:spPr>
          <a:xfrm>
            <a:off x="523401" y="4544126"/>
            <a:ext cx="8070823" cy="175432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Proposed Solution Summary</a:t>
            </a:r>
          </a:p>
          <a:p>
            <a:r>
              <a:rPr lang="en-US">
                <a:latin typeface="Times New Roman"/>
                <a:ea typeface="+mn-lt"/>
                <a:cs typeface="Times New Roman"/>
              </a:rPr>
              <a:t>  Our project overcomes these challenges by replacing slow cloud reliance and complex algorithms with deterministic edge-computing. Using a dual-core ESP32, our system executes lightweight Neural Networks locally, guaranteeing the sub-second capacitor switching and precise hardware integration required for reliable, single-site industrial Power Factor correction and load management.</a:t>
            </a:r>
            <a:endParaRPr lang="en-US">
              <a:latin typeface="Times New Roman"/>
              <a:cs typeface="Times New Roman"/>
            </a:endParaRPr>
          </a:p>
        </p:txBody>
      </p:sp>
    </p:spTree>
    <p:extLst>
      <p:ext uri="{BB962C8B-B14F-4D97-AF65-F5344CB8AC3E}">
        <p14:creationId xmlns:p14="http://schemas.microsoft.com/office/powerpoint/2010/main" val="4209119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3F459-9F41-F79E-F278-CDABAF39F76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48B94F1-D2A7-BB89-7606-8EEDB245AEA7}"/>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8777CB8F-D653-37B6-CE98-3BD717BCE6FA}"/>
              </a:ext>
            </a:extLst>
          </p:cNvPr>
          <p:cNvSpPr/>
          <p:nvPr/>
        </p:nvSpPr>
        <p:spPr>
          <a:xfrm>
            <a:off x="532356" y="1599156"/>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sp>
        <p:nvSpPr>
          <p:cNvPr id="8" name="Rectangle 7">
            <a:extLst>
              <a:ext uri="{FF2B5EF4-FFF2-40B4-BE49-F238E27FC236}">
                <a16:creationId xmlns:a16="http://schemas.microsoft.com/office/drawing/2014/main" id="{84132BA6-2EF4-750E-625D-088215370A52}"/>
              </a:ext>
            </a:extLst>
          </p:cNvPr>
          <p:cNvSpPr/>
          <p:nvPr/>
        </p:nvSpPr>
        <p:spPr>
          <a:xfrm>
            <a:off x="457200" y="2819400"/>
            <a:ext cx="8534400" cy="274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C3B28F43-98DF-2AE9-98BD-67CF7498E2A6}"/>
              </a:ext>
            </a:extLst>
          </p:cNvPr>
          <p:cNvSpPr txBox="1"/>
          <p:nvPr/>
        </p:nvSpPr>
        <p:spPr>
          <a:xfrm>
            <a:off x="313151" y="2514598"/>
            <a:ext cx="8519785" cy="3416320"/>
          </a:xfrm>
          <a:prstGeom prst="rect">
            <a:avLst/>
          </a:prstGeom>
          <a:noFill/>
        </p:spPr>
        <p:txBody>
          <a:bodyPr wrap="square" lIns="91440" tIns="45720" rIns="91440" bIns="45720" rtlCol="0" anchor="t">
            <a:spAutoFit/>
          </a:bodyPr>
          <a:lstStyle/>
          <a:p>
            <a:pPr marL="285750" indent="-285750">
              <a:buFont typeface="Arial"/>
              <a:buChar char="•"/>
            </a:pPr>
            <a:r>
              <a:rPr lang="en-US" b="1" dirty="0">
                <a:solidFill>
                  <a:srgbClr val="2B2D38"/>
                </a:solidFill>
                <a:highlight>
                  <a:srgbClr val="FFFFFF"/>
                </a:highlight>
                <a:latin typeface="Times New Roman"/>
                <a:ea typeface="+mn-lt"/>
                <a:cs typeface="+mn-lt"/>
              </a:rPr>
              <a:t>Fixed Capacitor Switching - </a:t>
            </a:r>
            <a:r>
              <a:rPr lang="en-US" dirty="0">
                <a:solidFill>
                  <a:srgbClr val="2B2D38"/>
                </a:solidFill>
                <a:highlight>
                  <a:srgbClr val="FFFFFF"/>
                </a:highlight>
                <a:latin typeface="Times New Roman"/>
                <a:ea typeface="+mn-lt"/>
                <a:cs typeface="+mn-lt"/>
              </a:rPr>
              <a:t>Manual or relay-based control unable to adapt to load variations</a:t>
            </a:r>
            <a:endParaRPr lang="en-US">
              <a:latin typeface="Times New Roman"/>
              <a:cs typeface="Times New Roman"/>
            </a:endParaRPr>
          </a:p>
          <a:p>
            <a:pPr marL="285750" indent="-285750">
              <a:buFont typeface="Arial"/>
              <a:buChar char="•"/>
            </a:pPr>
            <a:r>
              <a:rPr lang="en-US" b="1" dirty="0">
                <a:solidFill>
                  <a:srgbClr val="2B2D38"/>
                </a:solidFill>
                <a:highlight>
                  <a:srgbClr val="FFFFFF"/>
                </a:highlight>
                <a:latin typeface="Times New Roman"/>
                <a:ea typeface="+mn-lt"/>
                <a:cs typeface="+mn-lt"/>
              </a:rPr>
              <a:t>Overshoot &amp; Resonance -</a:t>
            </a:r>
            <a:r>
              <a:rPr lang="en-US" dirty="0">
                <a:solidFill>
                  <a:srgbClr val="2B2D38"/>
                </a:solidFill>
                <a:highlight>
                  <a:srgbClr val="FFFFFF"/>
                </a:highlight>
                <a:latin typeface="Times New Roman"/>
                <a:ea typeface="+mn-lt"/>
                <a:cs typeface="+mn-lt"/>
              </a:rPr>
              <a:t> Inadequate compensation causes system instability and inefficiency</a:t>
            </a:r>
            <a:endParaRPr lang="en-US">
              <a:latin typeface="Times New Roman"/>
              <a:cs typeface="Times New Roman"/>
            </a:endParaRPr>
          </a:p>
          <a:p>
            <a:pPr marL="285750" indent="-285750">
              <a:buFont typeface="Arial"/>
              <a:buChar char="•"/>
            </a:pPr>
            <a:r>
              <a:rPr lang="en-US" b="1" dirty="0">
                <a:solidFill>
                  <a:srgbClr val="2B2D38"/>
                </a:solidFill>
                <a:highlight>
                  <a:srgbClr val="FFFFFF"/>
                </a:highlight>
                <a:latin typeface="Times New Roman"/>
                <a:ea typeface="+mn-lt"/>
                <a:cs typeface="+mn-lt"/>
              </a:rPr>
              <a:t>Utility Penalties - </a:t>
            </a:r>
            <a:r>
              <a:rPr lang="en-US" dirty="0">
                <a:solidFill>
                  <a:srgbClr val="2B2D38"/>
                </a:solidFill>
                <a:highlight>
                  <a:srgbClr val="FFFFFF"/>
                </a:highlight>
                <a:latin typeface="Times New Roman"/>
                <a:ea typeface="+mn-lt"/>
                <a:cs typeface="+mn-lt"/>
              </a:rPr>
              <a:t>Fixed tariffs impose fines for low power factor regardless of real-time conditions</a:t>
            </a:r>
            <a:endParaRPr lang="en-US">
              <a:latin typeface="Times New Roman"/>
              <a:ea typeface="+mn-lt"/>
              <a:cs typeface="+mn-lt"/>
            </a:endParaRPr>
          </a:p>
          <a:p>
            <a:pPr marL="285750" indent="-285750">
              <a:buFont typeface="Arial"/>
              <a:buChar char="•"/>
            </a:pPr>
            <a:r>
              <a:rPr lang="en-US" b="1" dirty="0">
                <a:solidFill>
                  <a:srgbClr val="2B2D38"/>
                </a:solidFill>
                <a:highlight>
                  <a:srgbClr val="FFFFFF"/>
                </a:highlight>
                <a:latin typeface="Times New Roman"/>
                <a:ea typeface="+mn-lt"/>
                <a:cs typeface="+mn-lt"/>
              </a:rPr>
              <a:t>Reactive Power Losses</a:t>
            </a:r>
            <a:r>
              <a:rPr lang="en-US" dirty="0">
                <a:solidFill>
                  <a:srgbClr val="2B2D38"/>
                </a:solidFill>
                <a:highlight>
                  <a:srgbClr val="FFFFFF"/>
                </a:highlight>
                <a:latin typeface="Times New Roman"/>
                <a:ea typeface="+mn-lt"/>
                <a:cs typeface="+mn-lt"/>
              </a:rPr>
              <a:t> - Additional transmission losses and increased kVA demand charges</a:t>
            </a:r>
            <a:endParaRPr lang="en-US">
              <a:latin typeface="Times New Roman"/>
              <a:cs typeface="Times New Roman"/>
            </a:endParaRPr>
          </a:p>
          <a:p>
            <a:pPr marL="285750" indent="-285750">
              <a:buFont typeface="Arial"/>
              <a:buChar char="•"/>
            </a:pPr>
            <a:r>
              <a:rPr lang="en-US" b="1" dirty="0">
                <a:solidFill>
                  <a:srgbClr val="2B2D38"/>
                </a:solidFill>
                <a:highlight>
                  <a:srgbClr val="FFFFFF"/>
                </a:highlight>
                <a:latin typeface="Times New Roman"/>
                <a:ea typeface="+mn-lt"/>
                <a:cs typeface="+mn-lt"/>
              </a:rPr>
              <a:t>Uncoordinated Control -</a:t>
            </a:r>
            <a:r>
              <a:rPr lang="en-US" dirty="0">
                <a:solidFill>
                  <a:srgbClr val="2B2D38"/>
                </a:solidFill>
                <a:highlight>
                  <a:srgbClr val="FFFFFF"/>
                </a:highlight>
                <a:latin typeface="Times New Roman"/>
                <a:ea typeface="+mn-lt"/>
                <a:cs typeface="+mn-lt"/>
              </a:rPr>
              <a:t> Power factor correction and demand response operate independently without integration</a:t>
            </a:r>
            <a:endParaRPr lang="en-US">
              <a:latin typeface="Times New Roman"/>
              <a:cs typeface="Times New Roman"/>
            </a:endParaRPr>
          </a:p>
          <a:p>
            <a:pPr marL="285750" indent="-285750">
              <a:buFont typeface="Arial"/>
              <a:buChar char="•"/>
            </a:pPr>
            <a:r>
              <a:rPr lang="en-US" b="1" dirty="0">
                <a:solidFill>
                  <a:srgbClr val="2B2D38"/>
                </a:solidFill>
                <a:highlight>
                  <a:srgbClr val="FFFFFF"/>
                </a:highlight>
                <a:latin typeface="Times New Roman"/>
                <a:ea typeface="+mn-lt"/>
                <a:cs typeface="+mn-lt"/>
              </a:rPr>
              <a:t>No Real-Time Monitoring -</a:t>
            </a:r>
            <a:r>
              <a:rPr lang="en-US" dirty="0">
                <a:solidFill>
                  <a:srgbClr val="2B2D38"/>
                </a:solidFill>
                <a:highlight>
                  <a:srgbClr val="FFFFFF"/>
                </a:highlight>
                <a:latin typeface="Times New Roman"/>
                <a:ea typeface="+mn-lt"/>
                <a:cs typeface="+mn-lt"/>
              </a:rPr>
              <a:t> Lack of visibility prevents early fault detection and proactive adjustments</a:t>
            </a:r>
            <a:endParaRPr lang="en-US">
              <a:latin typeface="Times New Roman"/>
              <a:cs typeface="Times New Roman"/>
            </a:endParaRPr>
          </a:p>
        </p:txBody>
      </p:sp>
      <p:pic>
        <p:nvPicPr>
          <p:cNvPr id="3" name="Picture 2">
            <a:extLst>
              <a:ext uri="{FF2B5EF4-FFF2-40B4-BE49-F238E27FC236}">
                <a16:creationId xmlns:a16="http://schemas.microsoft.com/office/drawing/2014/main" id="{590FD6BD-4FDC-E880-3191-6A8F3FD21A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
        <p:nvSpPr>
          <p:cNvPr id="10" name="TextBox 9">
            <a:extLst>
              <a:ext uri="{FF2B5EF4-FFF2-40B4-BE49-F238E27FC236}">
                <a16:creationId xmlns:a16="http://schemas.microsoft.com/office/drawing/2014/main" id="{E81F7936-C8D0-1898-24DA-5DCB5A5C2799}"/>
              </a:ext>
            </a:extLst>
          </p:cNvPr>
          <p:cNvSpPr txBox="1"/>
          <p:nvPr/>
        </p:nvSpPr>
        <p:spPr>
          <a:xfrm>
            <a:off x="3402904" y="2146115"/>
            <a:ext cx="2336104"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Times New Roman"/>
                <a:cs typeface="Lucida Sans Unicode"/>
              </a:rPr>
              <a:t>EXISTING SYSTEM</a:t>
            </a:r>
          </a:p>
        </p:txBody>
      </p:sp>
    </p:spTree>
    <p:extLst>
      <p:ext uri="{BB962C8B-B14F-4D97-AF65-F5344CB8AC3E}">
        <p14:creationId xmlns:p14="http://schemas.microsoft.com/office/powerpoint/2010/main" val="1157630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A0F46-BA1A-8CF1-AF31-EDE3DA9DBCA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E4DF3D1-4E46-EFE7-5F9D-58D384A71167}"/>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8B496DF6-7C2C-E8AC-1992-BE0751E29E25}"/>
              </a:ext>
            </a:extLst>
          </p:cNvPr>
          <p:cNvSpPr/>
          <p:nvPr/>
        </p:nvSpPr>
        <p:spPr>
          <a:xfrm>
            <a:off x="532356" y="1515649"/>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sp>
        <p:nvSpPr>
          <p:cNvPr id="7" name="Rectangle 6">
            <a:extLst>
              <a:ext uri="{FF2B5EF4-FFF2-40B4-BE49-F238E27FC236}">
                <a16:creationId xmlns:a16="http://schemas.microsoft.com/office/drawing/2014/main" id="{001EC914-C949-E5A9-DDA1-673988EFFFFA}"/>
              </a:ext>
            </a:extLst>
          </p:cNvPr>
          <p:cNvSpPr/>
          <p:nvPr/>
        </p:nvSpPr>
        <p:spPr>
          <a:xfrm>
            <a:off x="990600" y="3276600"/>
            <a:ext cx="7391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F6A274F8-9034-2F23-434E-CFF86D486FBC}"/>
              </a:ext>
            </a:extLst>
          </p:cNvPr>
          <p:cNvSpPr txBox="1"/>
          <p:nvPr/>
        </p:nvSpPr>
        <p:spPr>
          <a:xfrm>
            <a:off x="266178" y="2562617"/>
            <a:ext cx="8613729" cy="4524315"/>
          </a:xfrm>
          <a:prstGeom prst="rect">
            <a:avLst/>
          </a:prstGeom>
          <a:noFill/>
        </p:spPr>
        <p:txBody>
          <a:bodyPr wrap="square" lIns="91440" tIns="45720" rIns="91440" bIns="45720" rtlCol="0" anchor="t">
            <a:spAutoFit/>
          </a:bodyPr>
          <a:lstStyle/>
          <a:p>
            <a:pPr marL="285750" indent="-285750">
              <a:buFont typeface="Arial"/>
              <a:buChar char="•"/>
            </a:pPr>
            <a:r>
              <a:rPr lang="en-US" b="1" dirty="0">
                <a:highlight>
                  <a:srgbClr val="FFFFFF"/>
                </a:highlight>
                <a:latin typeface="Times New Roman"/>
                <a:ea typeface="+mn-lt"/>
                <a:cs typeface="+mn-lt"/>
              </a:rPr>
              <a:t>Neural Network Analysis</a:t>
            </a:r>
            <a:r>
              <a:rPr lang="en-US" dirty="0">
                <a:highlight>
                  <a:srgbClr val="FFFFFF"/>
                </a:highlight>
                <a:latin typeface="Times New Roman"/>
                <a:ea typeface="+mn-lt"/>
                <a:cs typeface="+mn-lt"/>
              </a:rPr>
              <a:t> – Real-time power factor monitoring and adaptive capacitor bank control</a:t>
            </a:r>
            <a:endParaRPr lang="en-US">
              <a:highlight>
                <a:srgbClr val="FFFFFF"/>
              </a:highlight>
              <a:latin typeface="Times New Roman"/>
              <a:cs typeface="Times New Roman"/>
            </a:endParaRPr>
          </a:p>
          <a:p>
            <a:pPr marL="285750" indent="-285750">
              <a:buFont typeface="Arial"/>
              <a:buChar char="•"/>
            </a:pPr>
            <a:r>
              <a:rPr lang="en-US" b="1" dirty="0">
                <a:highlight>
                  <a:srgbClr val="FFFFFF"/>
                </a:highlight>
                <a:latin typeface="Times New Roman"/>
                <a:ea typeface="+mn-lt"/>
                <a:cs typeface="+mn-lt"/>
              </a:rPr>
              <a:t>Near-Unity Power Factor</a:t>
            </a:r>
            <a:r>
              <a:rPr lang="en-US" dirty="0">
                <a:highlight>
                  <a:srgbClr val="FFFFFF"/>
                </a:highlight>
                <a:latin typeface="Times New Roman"/>
                <a:ea typeface="+mn-lt"/>
                <a:cs typeface="+mn-lt"/>
              </a:rPr>
              <a:t> – Dynamic maintenance across varying loads, eliminating overshoot &amp; resonance</a:t>
            </a:r>
            <a:endParaRPr lang="en-US">
              <a:highlight>
                <a:srgbClr val="FFFFFF"/>
              </a:highlight>
              <a:latin typeface="Times New Roman"/>
              <a:ea typeface="+mn-lt"/>
              <a:cs typeface="+mn-lt"/>
            </a:endParaRPr>
          </a:p>
          <a:p>
            <a:pPr marL="285750" indent="-285750">
              <a:buFont typeface="Arial"/>
              <a:buChar char="•"/>
            </a:pPr>
            <a:r>
              <a:rPr lang="en-US" b="1" dirty="0">
                <a:highlight>
                  <a:srgbClr val="FFFFFF"/>
                </a:highlight>
                <a:latin typeface="Times New Roman"/>
                <a:ea typeface="+mn-lt"/>
                <a:cs typeface="+mn-lt"/>
              </a:rPr>
              <a:t>IoT Sensing Integration</a:t>
            </a:r>
            <a:r>
              <a:rPr lang="en-US" dirty="0">
                <a:highlight>
                  <a:srgbClr val="FFFFFF"/>
                </a:highlight>
                <a:latin typeface="Times New Roman"/>
                <a:ea typeface="+mn-lt"/>
                <a:cs typeface="+mn-lt"/>
              </a:rPr>
              <a:t> – Continuous electrical parameter monitoring with edge computing</a:t>
            </a:r>
            <a:endParaRPr lang="en-US">
              <a:highlight>
                <a:srgbClr val="FFFFFF"/>
              </a:highlight>
              <a:latin typeface="Times New Roman"/>
              <a:cs typeface="Times New Roman"/>
            </a:endParaRPr>
          </a:p>
          <a:p>
            <a:pPr marL="285750" indent="-285750">
              <a:buFont typeface="Arial"/>
              <a:buChar char="•"/>
            </a:pPr>
            <a:r>
              <a:rPr lang="en-US" b="1" dirty="0">
                <a:highlight>
                  <a:srgbClr val="FFFFFF"/>
                </a:highlight>
                <a:latin typeface="Times New Roman"/>
                <a:ea typeface="+mn-lt"/>
                <a:cs typeface="+mn-lt"/>
              </a:rPr>
              <a:t>Reinforcement Learning</a:t>
            </a:r>
            <a:r>
              <a:rPr lang="en-US" dirty="0">
                <a:highlight>
                  <a:srgbClr val="FFFFFF"/>
                </a:highlight>
                <a:latin typeface="Times New Roman"/>
                <a:ea typeface="+mn-lt"/>
                <a:cs typeface="+mn-lt"/>
              </a:rPr>
              <a:t> – Smart demand response automatically shifts flexible loads</a:t>
            </a:r>
          </a:p>
          <a:p>
            <a:pPr marL="285750" indent="-285750">
              <a:buFont typeface="Arial"/>
              <a:buChar char="•"/>
            </a:pPr>
            <a:r>
              <a:rPr lang="en-US" b="1" dirty="0">
                <a:highlight>
                  <a:srgbClr val="FFFFFF"/>
                </a:highlight>
                <a:latin typeface="Times New Roman"/>
                <a:ea typeface="+mn-lt"/>
                <a:cs typeface="+mn-lt"/>
              </a:rPr>
              <a:t>Real-Time Optimization</a:t>
            </a:r>
            <a:r>
              <a:rPr lang="en-US" dirty="0">
                <a:highlight>
                  <a:srgbClr val="FFFFFF"/>
                </a:highlight>
                <a:latin typeface="Times New Roman"/>
                <a:ea typeface="+mn-lt"/>
                <a:cs typeface="+mn-lt"/>
              </a:rPr>
              <a:t> – Responds to tariffs, grid signals, and operational constraints</a:t>
            </a:r>
            <a:endParaRPr lang="en-US">
              <a:highlight>
                <a:srgbClr val="FFFFFF"/>
              </a:highlight>
              <a:latin typeface="Times New Roman"/>
              <a:ea typeface="+mn-lt"/>
              <a:cs typeface="+mn-lt"/>
            </a:endParaRPr>
          </a:p>
          <a:p>
            <a:pPr marL="285750" indent="-285750">
              <a:buFont typeface="Arial"/>
              <a:buChar char="•"/>
            </a:pPr>
            <a:r>
              <a:rPr lang="en-US" b="1" dirty="0">
                <a:highlight>
                  <a:srgbClr val="FFFFFF"/>
                </a:highlight>
                <a:latin typeface="Times New Roman"/>
                <a:ea typeface="+mn-lt"/>
                <a:cs typeface="+mn-lt"/>
              </a:rPr>
              <a:t>Predictive Analytics </a:t>
            </a:r>
            <a:r>
              <a:rPr lang="en-US" dirty="0">
                <a:highlight>
                  <a:srgbClr val="FFFFFF"/>
                </a:highlight>
                <a:latin typeface="Times New Roman"/>
                <a:ea typeface="+mn-lt"/>
                <a:cs typeface="+mn-lt"/>
              </a:rPr>
              <a:t>– Harmonic mitigation and fault prevention through forecasting</a:t>
            </a:r>
            <a:endParaRPr lang="en-US">
              <a:highlight>
                <a:srgbClr val="FFFFFF"/>
              </a:highlight>
              <a:latin typeface="Times New Roman"/>
              <a:cs typeface="Times New Roman"/>
            </a:endParaRPr>
          </a:p>
          <a:p>
            <a:pPr marL="285750" indent="-285750">
              <a:buFont typeface="Arial"/>
              <a:buChar char="•"/>
            </a:pPr>
            <a:r>
              <a:rPr lang="en-US" b="1" dirty="0">
                <a:highlight>
                  <a:srgbClr val="FFFFFF"/>
                </a:highlight>
                <a:latin typeface="Times New Roman"/>
                <a:ea typeface="+mn-lt"/>
                <a:cs typeface="+mn-lt"/>
              </a:rPr>
              <a:t>Continuous Feedback Loops</a:t>
            </a:r>
            <a:r>
              <a:rPr lang="en-US" dirty="0">
                <a:highlight>
                  <a:srgbClr val="FFFFFF"/>
                </a:highlight>
                <a:latin typeface="Times New Roman"/>
                <a:ea typeface="+mn-lt"/>
                <a:cs typeface="+mn-lt"/>
              </a:rPr>
              <a:t> – Self-optimizing performance adapts to load changes</a:t>
            </a:r>
            <a:endParaRPr lang="en-US">
              <a:highlight>
                <a:srgbClr val="FFFFFF"/>
              </a:highlight>
              <a:latin typeface="Times New Roman"/>
              <a:cs typeface="Times New Roman"/>
            </a:endParaRPr>
          </a:p>
          <a:p>
            <a:pPr marL="285750" indent="-285750">
              <a:buFont typeface="Arial"/>
              <a:buChar char="•"/>
            </a:pPr>
            <a:r>
              <a:rPr lang="en-US" b="1" dirty="0">
                <a:highlight>
                  <a:srgbClr val="FFFFFF"/>
                </a:highlight>
                <a:latin typeface="Times New Roman"/>
                <a:ea typeface="+mn-lt"/>
                <a:cs typeface="+mn-lt"/>
              </a:rPr>
              <a:t>Renewable Integration Ready</a:t>
            </a:r>
            <a:r>
              <a:rPr lang="en-US" dirty="0">
                <a:highlight>
                  <a:srgbClr val="FFFFFF"/>
                </a:highlight>
                <a:latin typeface="Times New Roman"/>
                <a:ea typeface="+mn-lt"/>
                <a:cs typeface="+mn-lt"/>
              </a:rPr>
              <a:t> – Handles variable generation and distributed energy resources</a:t>
            </a:r>
            <a:endParaRPr lang="en-US">
              <a:highlight>
                <a:srgbClr val="FFFFFF"/>
              </a:highlight>
              <a:latin typeface="Times New Roman"/>
              <a:cs typeface="Times New Roman"/>
            </a:endParaRPr>
          </a:p>
          <a:p>
            <a:pPr marL="285750" indent="-285750">
              <a:buFont typeface="Arial"/>
              <a:buChar char="•"/>
            </a:pPr>
            <a:r>
              <a:rPr lang="en-US" b="1" dirty="0">
                <a:highlight>
                  <a:srgbClr val="FFFFFF"/>
                </a:highlight>
                <a:latin typeface="Times New Roman"/>
                <a:ea typeface="+mn-lt"/>
                <a:cs typeface="+mn-lt"/>
              </a:rPr>
              <a:t>Proven Results</a:t>
            </a:r>
            <a:r>
              <a:rPr lang="en-US" dirty="0">
                <a:highlight>
                  <a:srgbClr val="FFFFFF"/>
                </a:highlight>
                <a:latin typeface="Times New Roman"/>
                <a:ea typeface="+mn-lt"/>
                <a:cs typeface="+mn-lt"/>
              </a:rPr>
              <a:t> – Eliminates penalties, 15-25% peak demand reduction, sustained power quality</a:t>
            </a:r>
            <a:endParaRPr lang="en-US">
              <a:highlight>
                <a:srgbClr val="FFFFFF"/>
              </a:highlight>
              <a:latin typeface="Times New Roman"/>
              <a:ea typeface="+mn-lt"/>
              <a:cs typeface="+mn-lt"/>
            </a:endParaRPr>
          </a:p>
          <a:p>
            <a:pPr marL="285750" indent="-285750">
              <a:buFont typeface="Arial"/>
              <a:buChar char="•"/>
            </a:pPr>
            <a:r>
              <a:rPr lang="en-US" b="1" dirty="0">
                <a:highlight>
                  <a:srgbClr val="FFFFFF"/>
                </a:highlight>
                <a:latin typeface="Times New Roman"/>
                <a:cs typeface="Lucida Sans Unicode"/>
              </a:rPr>
              <a:t>Interface for users and admin</a:t>
            </a:r>
            <a:r>
              <a:rPr lang="en-US" dirty="0">
                <a:highlight>
                  <a:srgbClr val="FFFFFF"/>
                </a:highlight>
                <a:latin typeface="Times New Roman"/>
                <a:cs typeface="Lucida Sans Unicode"/>
              </a:rPr>
              <a:t> – Web application accessed by the users and the admins</a:t>
            </a:r>
            <a:endParaRPr lang="en-US" dirty="0">
              <a:highlight>
                <a:srgbClr val="FFFFFF"/>
              </a:highlight>
              <a:latin typeface="Times New Roman" pitchFamily="18" charset="0"/>
              <a:cs typeface="Lucida Sans Unicode"/>
            </a:endParaRPr>
          </a:p>
          <a:p>
            <a:endParaRPr lang="en-US" dirty="0">
              <a:latin typeface="Times New Roman" pitchFamily="18" charset="0"/>
              <a:cs typeface="Lucida Sans Unicode"/>
            </a:endParaRPr>
          </a:p>
        </p:txBody>
      </p:sp>
      <p:pic>
        <p:nvPicPr>
          <p:cNvPr id="3" name="Picture 2">
            <a:extLst>
              <a:ext uri="{FF2B5EF4-FFF2-40B4-BE49-F238E27FC236}">
                <a16:creationId xmlns:a16="http://schemas.microsoft.com/office/drawing/2014/main" id="{172410C3-7F34-4D5A-6236-A57A18EA40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
        <p:nvSpPr>
          <p:cNvPr id="2" name="TextBox 1">
            <a:extLst>
              <a:ext uri="{FF2B5EF4-FFF2-40B4-BE49-F238E27FC236}">
                <a16:creationId xmlns:a16="http://schemas.microsoft.com/office/drawing/2014/main" id="{5AAE4197-3C83-3618-AD93-7C1E67CD5B7C}"/>
              </a:ext>
            </a:extLst>
          </p:cNvPr>
          <p:cNvSpPr txBox="1"/>
          <p:nvPr/>
        </p:nvSpPr>
        <p:spPr>
          <a:xfrm>
            <a:off x="3361151" y="2077234"/>
            <a:ext cx="243004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Times New Roman"/>
                <a:cs typeface="Times New Roman"/>
              </a:rPr>
              <a:t>PROPOSED SYSTEM</a:t>
            </a:r>
            <a:endParaRPr lang="en-US" dirty="0"/>
          </a:p>
        </p:txBody>
      </p:sp>
    </p:spTree>
    <p:extLst>
      <p:ext uri="{BB962C8B-B14F-4D97-AF65-F5344CB8AC3E}">
        <p14:creationId xmlns:p14="http://schemas.microsoft.com/office/powerpoint/2010/main" val="44651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BFE3F-1D67-A70E-F726-4F662DEFA5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C06A2B5-BC34-840C-D213-56F7FE5D2889}"/>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EA3B20EC-F367-F0FA-5873-7BADAD7FE6D6}"/>
              </a:ext>
            </a:extLst>
          </p:cNvPr>
          <p:cNvSpPr/>
          <p:nvPr/>
        </p:nvSpPr>
        <p:spPr>
          <a:xfrm>
            <a:off x="651353" y="1713978"/>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sp>
        <p:nvSpPr>
          <p:cNvPr id="8" name="Rectangle 7">
            <a:extLst>
              <a:ext uri="{FF2B5EF4-FFF2-40B4-BE49-F238E27FC236}">
                <a16:creationId xmlns:a16="http://schemas.microsoft.com/office/drawing/2014/main" id="{3AE0DEDC-EB2E-E6DC-FE6F-1E7B97F2A79C}"/>
              </a:ext>
            </a:extLst>
          </p:cNvPr>
          <p:cNvSpPr/>
          <p:nvPr/>
        </p:nvSpPr>
        <p:spPr>
          <a:xfrm>
            <a:off x="457200" y="2819400"/>
            <a:ext cx="8534400" cy="274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36E630E7-44BD-239A-6DE6-708C7460B6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
        <p:nvSpPr>
          <p:cNvPr id="11" name="TextBox 10"/>
          <p:cNvSpPr txBox="1"/>
          <p:nvPr/>
        </p:nvSpPr>
        <p:spPr>
          <a:xfrm>
            <a:off x="762000" y="2326710"/>
            <a:ext cx="7620000" cy="400110"/>
          </a:xfrm>
          <a:prstGeom prst="rect">
            <a:avLst/>
          </a:prstGeom>
          <a:noFill/>
        </p:spPr>
        <p:txBody>
          <a:bodyPr wrap="square" rtlCol="0">
            <a:spAutoFit/>
          </a:bodyPr>
          <a:lstStyle/>
          <a:p>
            <a:pPr algn="ctr"/>
            <a:r>
              <a:rPr lang="en-US" sz="2000" b="1" dirty="0">
                <a:latin typeface="Times New Roman" pitchFamily="18" charset="0"/>
                <a:cs typeface="Times New Roman" pitchFamily="18" charset="0"/>
              </a:rPr>
              <a:t>HARDWARE/SOFTWARE REQUIREMENTS </a:t>
            </a:r>
          </a:p>
        </p:txBody>
      </p:sp>
      <p:graphicFrame>
        <p:nvGraphicFramePr>
          <p:cNvPr id="10" name="Table 9"/>
          <p:cNvGraphicFramePr>
            <a:graphicFrameLocks noGrp="1"/>
          </p:cNvGraphicFramePr>
          <p:nvPr>
            <p:extLst>
              <p:ext uri="{D42A27DB-BD31-4B8C-83A1-F6EECF244321}">
                <p14:modId xmlns:p14="http://schemas.microsoft.com/office/powerpoint/2010/main" val="2422812590"/>
              </p:ext>
            </p:extLst>
          </p:nvPr>
        </p:nvGraphicFramePr>
        <p:xfrm>
          <a:off x="805132" y="2976113"/>
          <a:ext cx="6900042" cy="3322320"/>
        </p:xfrm>
        <a:graphic>
          <a:graphicData uri="http://schemas.openxmlformats.org/drawingml/2006/table">
            <a:tbl>
              <a:tblPr firstRow="1" bandRow="1">
                <a:tableStyleId>{5C22544A-7EE6-4342-B048-85BDC9FD1C3A}</a:tableStyleId>
              </a:tblPr>
              <a:tblGrid>
                <a:gridCol w="1917784">
                  <a:extLst>
                    <a:ext uri="{9D8B030D-6E8A-4147-A177-3AD203B41FA5}">
                      <a16:colId xmlns:a16="http://schemas.microsoft.com/office/drawing/2014/main" val="20000"/>
                    </a:ext>
                  </a:extLst>
                </a:gridCol>
                <a:gridCol w="1994496">
                  <a:extLst>
                    <a:ext uri="{9D8B030D-6E8A-4147-A177-3AD203B41FA5}">
                      <a16:colId xmlns:a16="http://schemas.microsoft.com/office/drawing/2014/main" val="20001"/>
                    </a:ext>
                  </a:extLst>
                </a:gridCol>
                <a:gridCol w="2987762">
                  <a:extLst>
                    <a:ext uri="{9D8B030D-6E8A-4147-A177-3AD203B41FA5}">
                      <a16:colId xmlns:a16="http://schemas.microsoft.com/office/drawing/2014/main" val="20002"/>
                    </a:ext>
                  </a:extLst>
                </a:gridCol>
              </a:tblGrid>
              <a:tr h="609600">
                <a:tc>
                  <a:txBody>
                    <a:bodyPr/>
                    <a:lstStyle/>
                    <a:p>
                      <a:pPr algn="ctr"/>
                      <a:r>
                        <a:rPr lang="en-US" sz="1400" dirty="0">
                          <a:latin typeface="Times New Roman"/>
                        </a:rPr>
                        <a:t>PREREQUISITES</a:t>
                      </a:r>
                    </a:p>
                  </a:txBody>
                  <a:tcPr anchor="ctr"/>
                </a:tc>
                <a:tc>
                  <a:txBody>
                    <a:bodyPr/>
                    <a:lstStyle/>
                    <a:p>
                      <a:pPr algn="ctr"/>
                      <a:r>
                        <a:rPr lang="en-US" sz="1400" dirty="0">
                          <a:latin typeface="Times New Roman"/>
                        </a:rPr>
                        <a:t>SOFTWARE</a:t>
                      </a:r>
                    </a:p>
                  </a:txBody>
                  <a:tcPr anchor="ctr"/>
                </a:tc>
                <a:tc>
                  <a:txBody>
                    <a:bodyPr/>
                    <a:lstStyle/>
                    <a:p>
                      <a:pPr algn="ctr"/>
                      <a:r>
                        <a:rPr lang="en-US" sz="1400" dirty="0">
                          <a:latin typeface="Times New Roman"/>
                        </a:rPr>
                        <a:t>HARDWARE</a:t>
                      </a:r>
                    </a:p>
                  </a:txBody>
                  <a:tcPr anchor="ctr"/>
                </a:tc>
                <a:extLst>
                  <a:ext uri="{0D108BD9-81ED-4DB2-BD59-A6C34878D82A}">
                    <a16:rowId xmlns:a16="http://schemas.microsoft.com/office/drawing/2014/main" val="10000"/>
                  </a:ext>
                </a:extLst>
              </a:tr>
              <a:tr h="482600">
                <a:tc>
                  <a:txBody>
                    <a:bodyPr/>
                    <a:lstStyle/>
                    <a:p>
                      <a:pPr lvl="0" algn="l">
                        <a:buNone/>
                      </a:pPr>
                      <a:r>
                        <a:rPr lang="en-US" sz="1400" b="0" i="0" u="none" strike="noStrike" noProof="0" dirty="0">
                          <a:latin typeface="Times New Roman"/>
                        </a:rPr>
                        <a:t>Knowledge of Power Systems &amp; Power Electronics</a:t>
                      </a:r>
                      <a:endParaRPr lang="en-US" sz="1400" dirty="0">
                        <a:latin typeface="Times New Roman"/>
                      </a:endParaRPr>
                    </a:p>
                  </a:txBody>
                  <a:tcPr anchor="ctr"/>
                </a:tc>
                <a:tc>
                  <a:txBody>
                    <a:bodyPr/>
                    <a:lstStyle/>
                    <a:p>
                      <a:pPr lvl="0" algn="ctr">
                        <a:buNone/>
                      </a:pPr>
                      <a:r>
                        <a:rPr lang="en-US" sz="1400" b="0" i="0" u="none" strike="noStrike" baseline="0" noProof="0" dirty="0">
                          <a:solidFill>
                            <a:srgbClr val="000000"/>
                          </a:solidFill>
                          <a:latin typeface="Times New Roman"/>
                        </a:rPr>
                        <a:t>MATLAB / Simulink</a:t>
                      </a:r>
                    </a:p>
                  </a:txBody>
                  <a:tcPr anchor="ctr"/>
                </a:tc>
                <a:tc>
                  <a:txBody>
                    <a:bodyPr/>
                    <a:lstStyle/>
                    <a:p>
                      <a:pPr lvl="0" algn="ctr">
                        <a:buNone/>
                      </a:pPr>
                      <a:r>
                        <a:rPr lang="en-US" sz="1400" b="0" i="0" u="none" strike="noStrike" baseline="0" noProof="0" dirty="0">
                          <a:solidFill>
                            <a:srgbClr val="000000"/>
                          </a:solidFill>
                          <a:latin typeface="Times New Roman"/>
                        </a:rPr>
                        <a:t>Microcontroller: ESP32, Transformers</a:t>
                      </a:r>
                      <a:endParaRPr lang="en-US" dirty="0"/>
                    </a:p>
                  </a:txBody>
                  <a:tcPr anchor="ctr"/>
                </a:tc>
                <a:extLst>
                  <a:ext uri="{0D108BD9-81ED-4DB2-BD59-A6C34878D82A}">
                    <a16:rowId xmlns:a16="http://schemas.microsoft.com/office/drawing/2014/main" val="10001"/>
                  </a:ext>
                </a:extLst>
              </a:tr>
              <a:tr h="482600">
                <a:tc>
                  <a:txBody>
                    <a:bodyPr/>
                    <a:lstStyle/>
                    <a:p>
                      <a:pPr lvl="0" algn="l">
                        <a:buNone/>
                      </a:pPr>
                      <a:r>
                        <a:rPr lang="en-US" sz="1400" b="0" i="0" u="none" strike="noStrike" baseline="0" noProof="0" dirty="0">
                          <a:solidFill>
                            <a:srgbClr val="000000"/>
                          </a:solidFill>
                          <a:latin typeface="Times New Roman"/>
                        </a:rPr>
                        <a:t>Understanding of Control Systems &amp; Automation</a:t>
                      </a:r>
                      <a:endParaRPr lang="en-US" dirty="0"/>
                    </a:p>
                  </a:txBody>
                  <a:tcPr anchor="ctr"/>
                </a:tc>
                <a:tc>
                  <a:txBody>
                    <a:bodyPr/>
                    <a:lstStyle/>
                    <a:p>
                      <a:pPr lvl="0" algn="ctr">
                        <a:buNone/>
                      </a:pPr>
                      <a:r>
                        <a:rPr lang="en-US" sz="1400" b="0" i="0" u="none" strike="noStrike" baseline="0" noProof="0" dirty="0">
                          <a:solidFill>
                            <a:srgbClr val="000000"/>
                          </a:solidFill>
                          <a:latin typeface="Times New Roman"/>
                        </a:rPr>
                        <a:t>Cloud Platform (AWS)</a:t>
                      </a:r>
                      <a:endParaRPr lang="en-US" dirty="0"/>
                    </a:p>
                  </a:txBody>
                  <a:tcPr anchor="ctr"/>
                </a:tc>
                <a:tc>
                  <a:txBody>
                    <a:bodyPr/>
                    <a:lstStyle/>
                    <a:p>
                      <a:pPr lvl="0" algn="ctr">
                        <a:buNone/>
                      </a:pPr>
                      <a:r>
                        <a:rPr lang="en-US" sz="1400" b="0" i="0" u="none" strike="noStrike" baseline="0" noProof="0" dirty="0">
                          <a:solidFill>
                            <a:srgbClr val="000000"/>
                          </a:solidFill>
                          <a:latin typeface="Times New Roman"/>
                        </a:rPr>
                        <a:t>Relays &amp; Motor Drives, </a:t>
                      </a:r>
                      <a:endParaRPr lang="en-US" dirty="0"/>
                    </a:p>
                    <a:p>
                      <a:pPr lvl="0" algn="ctr">
                        <a:buNone/>
                      </a:pPr>
                      <a:r>
                        <a:rPr lang="en-US" sz="1400" b="0" i="0" u="none" strike="noStrike" baseline="0" noProof="0" dirty="0">
                          <a:solidFill>
                            <a:srgbClr val="000000"/>
                          </a:solidFill>
                          <a:latin typeface="Times New Roman"/>
                        </a:rPr>
                        <a:t>Power Supply Units, </a:t>
                      </a:r>
                      <a:endParaRPr lang="en-US"/>
                    </a:p>
                    <a:p>
                      <a:pPr lvl="0" algn="ctr">
                        <a:buNone/>
                      </a:pPr>
                      <a:r>
                        <a:rPr lang="en-US" sz="1400" b="0" i="0" u="none" strike="noStrike" baseline="0" noProof="0" dirty="0">
                          <a:solidFill>
                            <a:srgbClr val="000000"/>
                          </a:solidFill>
                          <a:latin typeface="Times New Roman"/>
                        </a:rPr>
                        <a:t>Capacitor Banks</a:t>
                      </a:r>
                      <a:endParaRPr lang="en-US" dirty="0"/>
                    </a:p>
                  </a:txBody>
                  <a:tcPr anchor="ctr"/>
                </a:tc>
                <a:extLst>
                  <a:ext uri="{0D108BD9-81ED-4DB2-BD59-A6C34878D82A}">
                    <a16:rowId xmlns:a16="http://schemas.microsoft.com/office/drawing/2014/main" val="10002"/>
                  </a:ext>
                </a:extLst>
              </a:tr>
              <a:tr h="482600">
                <a:tc>
                  <a:txBody>
                    <a:bodyPr/>
                    <a:lstStyle/>
                    <a:p>
                      <a:pPr lvl="0" algn="l">
                        <a:buNone/>
                      </a:pPr>
                      <a:r>
                        <a:rPr lang="en-US" sz="1400" b="0" i="0" u="none" strike="noStrike" baseline="0" noProof="0" dirty="0">
                          <a:solidFill>
                            <a:srgbClr val="000000"/>
                          </a:solidFill>
                          <a:latin typeface="Times New Roman"/>
                        </a:rPr>
                        <a:t>Basics of Machine Learning &amp; Neural Networks</a:t>
                      </a:r>
                      <a:endParaRPr lang="en-US" dirty="0"/>
                    </a:p>
                  </a:txBody>
                  <a:tcPr anchor="ctr"/>
                </a:tc>
                <a:tc>
                  <a:txBody>
                    <a:bodyPr/>
                    <a:lstStyle/>
                    <a:p>
                      <a:pPr lvl="0" algn="ctr">
                        <a:lnSpc>
                          <a:spcPct val="100000"/>
                        </a:lnSpc>
                        <a:spcBef>
                          <a:spcPts val="0"/>
                        </a:spcBef>
                        <a:spcAft>
                          <a:spcPts val="0"/>
                        </a:spcAft>
                        <a:buNone/>
                      </a:pPr>
                      <a:r>
                        <a:rPr lang="en-US" sz="1400" b="0" i="0" u="none" strike="noStrike" baseline="0" noProof="0" dirty="0">
                          <a:solidFill>
                            <a:srgbClr val="000000"/>
                          </a:solidFill>
                          <a:latin typeface="Times New Roman"/>
                        </a:rPr>
                        <a:t>Supervised Learning </a:t>
                      </a:r>
                    </a:p>
                  </a:txBody>
                  <a:tcPr anchor="ctr"/>
                </a:tc>
                <a:tc>
                  <a:txBody>
                    <a:bodyPr/>
                    <a:lstStyle/>
                    <a:p>
                      <a:pPr lvl="0" algn="ctr">
                        <a:buNone/>
                      </a:pPr>
                      <a:r>
                        <a:rPr lang="en-US" sz="1400" b="0" i="0" u="none" strike="noStrike" baseline="0" noProof="0" dirty="0">
                          <a:solidFill>
                            <a:srgbClr val="000000"/>
                          </a:solidFill>
                          <a:latin typeface="Times New Roman"/>
                        </a:rPr>
                        <a:t>Data Logger &amp; Network Switch</a:t>
                      </a:r>
                      <a:endParaRPr lang="en-US" sz="1400" baseline="0" dirty="0">
                        <a:latin typeface="Times New Roman"/>
                      </a:endParaRPr>
                    </a:p>
                  </a:txBody>
                  <a:tcPr anchor="ctr"/>
                </a:tc>
                <a:extLst>
                  <a:ext uri="{0D108BD9-81ED-4DB2-BD59-A6C34878D82A}">
                    <a16:rowId xmlns:a16="http://schemas.microsoft.com/office/drawing/2014/main" val="10003"/>
                  </a:ext>
                </a:extLst>
              </a:tr>
              <a:tr h="350520">
                <a:tc>
                  <a:txBody>
                    <a:bodyPr/>
                    <a:lstStyle/>
                    <a:p>
                      <a:pPr lvl="0" algn="l">
                        <a:buNone/>
                      </a:pPr>
                      <a:r>
                        <a:rPr lang="en-US" sz="1400" b="0" i="0" u="none" strike="noStrike" baseline="0" noProof="0" dirty="0">
                          <a:solidFill>
                            <a:srgbClr val="000000"/>
                          </a:solidFill>
                          <a:latin typeface="Times New Roman"/>
                        </a:rPr>
                        <a:t>IoT &amp; Embedded Systems Concepts</a:t>
                      </a:r>
                      <a:endParaRPr lang="en-US" dirty="0"/>
                    </a:p>
                  </a:txBody>
                  <a:tcPr anchor="ctr"/>
                </a:tc>
                <a:tc>
                  <a:txBody>
                    <a:bodyPr/>
                    <a:lstStyle/>
                    <a:p>
                      <a:pPr lvl="0" algn="ctr">
                        <a:buNone/>
                      </a:pPr>
                      <a:r>
                        <a:rPr lang="en-US" sz="1400" b="0" i="0" u="none" strike="noStrike" noProof="0" dirty="0">
                          <a:solidFill>
                            <a:srgbClr val="000000"/>
                          </a:solidFill>
                          <a:latin typeface="Times New Roman"/>
                        </a:rPr>
                        <a:t>LabVIEW</a:t>
                      </a:r>
                      <a:endParaRPr lang="en-US" dirty="0"/>
                    </a:p>
                  </a:txBody>
                  <a:tcPr anchor="ctr"/>
                </a:tc>
                <a:tc>
                  <a:txBody>
                    <a:bodyPr/>
                    <a:lstStyle/>
                    <a:p>
                      <a:pPr lvl="0" algn="ctr">
                        <a:buNone/>
                      </a:pPr>
                      <a:r>
                        <a:rPr lang="en-US" sz="1400" b="0" i="0" u="none" strike="noStrike" baseline="0" noProof="0" dirty="0">
                          <a:solidFill>
                            <a:srgbClr val="000000"/>
                          </a:solidFill>
                          <a:latin typeface="Times New Roman"/>
                        </a:rPr>
                        <a:t>IoT Module: Wi-Fi, MQTT</a:t>
                      </a:r>
                      <a:endParaRPr lang="en-US" dirty="0"/>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61944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52C7A-1C18-AADC-8977-18B884E9F44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5CD12DC-2D99-061B-ADEE-C6C5D4F05468}"/>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37BC5B62-004B-2351-EBD0-F485923AF9D8}"/>
              </a:ext>
            </a:extLst>
          </p:cNvPr>
          <p:cNvSpPr/>
          <p:nvPr/>
        </p:nvSpPr>
        <p:spPr>
          <a:xfrm>
            <a:off x="536334" y="1483940"/>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pic>
        <p:nvPicPr>
          <p:cNvPr id="3" name="Picture 2">
            <a:extLst>
              <a:ext uri="{FF2B5EF4-FFF2-40B4-BE49-F238E27FC236}">
                <a16:creationId xmlns:a16="http://schemas.microsoft.com/office/drawing/2014/main" id="{17DBB800-67F3-354E-95D6-2DCD99B0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
        <p:nvSpPr>
          <p:cNvPr id="11" name="TextBox 10">
            <a:extLst>
              <a:ext uri="{FF2B5EF4-FFF2-40B4-BE49-F238E27FC236}">
                <a16:creationId xmlns:a16="http://schemas.microsoft.com/office/drawing/2014/main" id="{8FEF8791-1180-EDD6-083B-4CA6458617F0}"/>
              </a:ext>
            </a:extLst>
          </p:cNvPr>
          <p:cNvSpPr txBox="1"/>
          <p:nvPr/>
        </p:nvSpPr>
        <p:spPr>
          <a:xfrm>
            <a:off x="762000" y="1938521"/>
            <a:ext cx="7620000" cy="400110"/>
          </a:xfrm>
          <a:prstGeom prst="rect">
            <a:avLst/>
          </a:prstGeom>
          <a:noFill/>
        </p:spPr>
        <p:txBody>
          <a:bodyPr wrap="square" lIns="91440" tIns="45720" rIns="91440" bIns="45720" rtlCol="0" anchor="t">
            <a:spAutoFit/>
          </a:bodyPr>
          <a:lstStyle/>
          <a:p>
            <a:pPr algn="ctr"/>
            <a:r>
              <a:rPr lang="en-US" sz="2000" b="1" dirty="0">
                <a:latin typeface="Times New Roman"/>
                <a:cs typeface="Times New Roman"/>
              </a:rPr>
              <a:t>COMPARISON OF CONTROLLERS</a:t>
            </a:r>
            <a:endParaRPr lang="en-US" sz="2000" b="1" dirty="0">
              <a:latin typeface="Times New Roman" pitchFamily="18" charset="0"/>
              <a:cs typeface="Times New Roman" pitchFamily="18" charset="0"/>
            </a:endParaRPr>
          </a:p>
        </p:txBody>
      </p:sp>
      <p:graphicFrame>
        <p:nvGraphicFramePr>
          <p:cNvPr id="5" name="Table 4">
            <a:extLst>
              <a:ext uri="{FF2B5EF4-FFF2-40B4-BE49-F238E27FC236}">
                <a16:creationId xmlns:a16="http://schemas.microsoft.com/office/drawing/2014/main" id="{1DA4C00F-6FE7-6007-75F2-57F7FFDF3ACB}"/>
              </a:ext>
            </a:extLst>
          </p:cNvPr>
          <p:cNvGraphicFramePr>
            <a:graphicFrameLocks noGrp="1"/>
          </p:cNvGraphicFramePr>
          <p:nvPr>
            <p:extLst>
              <p:ext uri="{D42A27DB-BD31-4B8C-83A1-F6EECF244321}">
                <p14:modId xmlns:p14="http://schemas.microsoft.com/office/powerpoint/2010/main" val="3296219628"/>
              </p:ext>
            </p:extLst>
          </p:nvPr>
        </p:nvGraphicFramePr>
        <p:xfrm>
          <a:off x="-28755" y="2343509"/>
          <a:ext cx="9201156" cy="4487159"/>
        </p:xfrm>
        <a:graphic>
          <a:graphicData uri="http://schemas.openxmlformats.org/drawingml/2006/table">
            <a:tbl>
              <a:tblPr firstRow="1" bandRow="1">
                <a:tableStyleId>{5C22544A-7EE6-4342-B048-85BDC9FD1C3A}</a:tableStyleId>
              </a:tblPr>
              <a:tblGrid>
                <a:gridCol w="1277470">
                  <a:extLst>
                    <a:ext uri="{9D8B030D-6E8A-4147-A177-3AD203B41FA5}">
                      <a16:colId xmlns:a16="http://schemas.microsoft.com/office/drawing/2014/main" val="15793331"/>
                    </a:ext>
                  </a:extLst>
                </a:gridCol>
                <a:gridCol w="1092556">
                  <a:extLst>
                    <a:ext uri="{9D8B030D-6E8A-4147-A177-3AD203B41FA5}">
                      <a16:colId xmlns:a16="http://schemas.microsoft.com/office/drawing/2014/main" val="2182060433"/>
                    </a:ext>
                  </a:extLst>
                </a:gridCol>
                <a:gridCol w="1126190">
                  <a:extLst>
                    <a:ext uri="{9D8B030D-6E8A-4147-A177-3AD203B41FA5}">
                      <a16:colId xmlns:a16="http://schemas.microsoft.com/office/drawing/2014/main" val="2877114608"/>
                    </a:ext>
                  </a:extLst>
                </a:gridCol>
                <a:gridCol w="1479176">
                  <a:extLst>
                    <a:ext uri="{9D8B030D-6E8A-4147-A177-3AD203B41FA5}">
                      <a16:colId xmlns:a16="http://schemas.microsoft.com/office/drawing/2014/main" val="611004577"/>
                    </a:ext>
                  </a:extLst>
                </a:gridCol>
                <a:gridCol w="4225764">
                  <a:extLst>
                    <a:ext uri="{9D8B030D-6E8A-4147-A177-3AD203B41FA5}">
                      <a16:colId xmlns:a16="http://schemas.microsoft.com/office/drawing/2014/main" val="1176352139"/>
                    </a:ext>
                  </a:extLst>
                </a:gridCol>
              </a:tblGrid>
              <a:tr h="494782">
                <a:tc>
                  <a:txBody>
                    <a:bodyPr/>
                    <a:lstStyle/>
                    <a:p>
                      <a:pPr algn="ctr"/>
                      <a:r>
                        <a:rPr lang="en-US" sz="1300"/>
                        <a:t>Feature</a:t>
                      </a:r>
                    </a:p>
                  </a:txBody>
                  <a:tcPr anchor="ctr"/>
                </a:tc>
                <a:tc>
                  <a:txBody>
                    <a:bodyPr/>
                    <a:lstStyle/>
                    <a:p>
                      <a:pPr algn="ctr"/>
                      <a:r>
                        <a:rPr lang="en-US" sz="1300"/>
                        <a:t>Arduino Uno</a:t>
                      </a:r>
                    </a:p>
                  </a:txBody>
                  <a:tcPr anchor="ctr"/>
                </a:tc>
                <a:tc>
                  <a:txBody>
                    <a:bodyPr/>
                    <a:lstStyle/>
                    <a:p>
                      <a:pPr algn="ctr"/>
                      <a:r>
                        <a:rPr lang="en-US" sz="1300"/>
                        <a:t>Raspberry Pi</a:t>
                      </a:r>
                    </a:p>
                  </a:txBody>
                  <a:tcPr anchor="ctr"/>
                </a:tc>
                <a:tc>
                  <a:txBody>
                    <a:bodyPr/>
                    <a:lstStyle/>
                    <a:p>
                      <a:pPr algn="ctr"/>
                      <a:r>
                        <a:rPr lang="en-US" sz="1300"/>
                        <a:t>ESP32 (Chosen)</a:t>
                      </a:r>
                    </a:p>
                  </a:txBody>
                  <a:tcPr anchor="ctr"/>
                </a:tc>
                <a:tc>
                  <a:txBody>
                    <a:bodyPr/>
                    <a:lstStyle/>
                    <a:p>
                      <a:pPr algn="ctr"/>
                      <a:r>
                        <a:rPr lang="en-US" sz="1300"/>
                        <a:t>Justification</a:t>
                      </a:r>
                    </a:p>
                  </a:txBody>
                  <a:tcPr anchor="ctr"/>
                </a:tc>
                <a:extLst>
                  <a:ext uri="{0D108BD9-81ED-4DB2-BD59-A6C34878D82A}">
                    <a16:rowId xmlns:a16="http://schemas.microsoft.com/office/drawing/2014/main" val="2106598956"/>
                  </a:ext>
                </a:extLst>
              </a:tr>
              <a:tr h="494782">
                <a:tc>
                  <a:txBody>
                    <a:bodyPr/>
                    <a:lstStyle/>
                    <a:p>
                      <a:pPr lvl="0">
                        <a:buNone/>
                      </a:pPr>
                      <a:r>
                        <a:rPr lang="en-US" sz="1300" b="0" i="0" u="none" strike="noStrike" noProof="0">
                          <a:latin typeface="Lucida Sans Unicode"/>
                          <a:cs typeface="Lucida Sans Unicode"/>
                        </a:rPr>
                        <a:t>Processor Speed</a:t>
                      </a:r>
                      <a:endParaRPr lang="en-US" sz="1300"/>
                    </a:p>
                  </a:txBody>
                  <a:tcPr/>
                </a:tc>
                <a:tc>
                  <a:txBody>
                    <a:bodyPr/>
                    <a:lstStyle/>
                    <a:p>
                      <a:pPr lvl="0">
                        <a:buNone/>
                      </a:pPr>
                      <a:r>
                        <a:rPr lang="en-US" sz="1300" b="0" i="0" u="none" strike="noStrike" noProof="0">
                          <a:latin typeface="Lucida Sans Unicode"/>
                          <a:cs typeface="Lucida Sans Unicode"/>
                        </a:rPr>
                        <a:t>16 MHz</a:t>
                      </a:r>
                      <a:endParaRPr lang="en-US" sz="1300"/>
                    </a:p>
                  </a:txBody>
                  <a:tcPr/>
                </a:tc>
                <a:tc>
                  <a:txBody>
                    <a:bodyPr/>
                    <a:lstStyle/>
                    <a:p>
                      <a:pPr lvl="0">
                        <a:buNone/>
                      </a:pPr>
                      <a:r>
                        <a:rPr lang="en-US" sz="1300" b="0" i="0" u="none" strike="noStrike" noProof="0">
                          <a:latin typeface="Lucida Sans Unicode"/>
                          <a:cs typeface="Lucida Sans Unicode"/>
                        </a:rPr>
                        <a:t>1.5 GHz</a:t>
                      </a:r>
                      <a:endParaRPr lang="en-US" sz="1300"/>
                    </a:p>
                  </a:txBody>
                  <a:tcPr/>
                </a:tc>
                <a:tc>
                  <a:txBody>
                    <a:bodyPr/>
                    <a:lstStyle/>
                    <a:p>
                      <a:pPr lvl="0">
                        <a:buNone/>
                      </a:pPr>
                      <a:r>
                        <a:rPr lang="en-US" sz="1300" b="0" i="0" u="none" strike="noStrike" noProof="0">
                          <a:latin typeface="Lucida Sans Unicode"/>
                          <a:cs typeface="Lucida Sans Unicode"/>
                        </a:rPr>
                        <a:t>240 MHz (Dual-Core)</a:t>
                      </a:r>
                      <a:endParaRPr lang="en-US" sz="1300"/>
                    </a:p>
                  </a:txBody>
                  <a:tcPr/>
                </a:tc>
                <a:tc>
                  <a:txBody>
                    <a:bodyPr/>
                    <a:lstStyle/>
                    <a:p>
                      <a:pPr lvl="0">
                        <a:buNone/>
                      </a:pPr>
                      <a:r>
                        <a:rPr lang="en-US" sz="1300" b="0" i="0" u="none" strike="noStrike" noProof="0">
                          <a:latin typeface="Lucida Sans Unicode"/>
                          <a:cs typeface="Lucida Sans Unicode"/>
                        </a:rPr>
                        <a:t>Handles the 0.0002s logic cycles that Arduino cannot process.</a:t>
                      </a:r>
                      <a:endParaRPr lang="en-US" sz="1300"/>
                    </a:p>
                  </a:txBody>
                  <a:tcPr/>
                </a:tc>
                <a:extLst>
                  <a:ext uri="{0D108BD9-81ED-4DB2-BD59-A6C34878D82A}">
                    <a16:rowId xmlns:a16="http://schemas.microsoft.com/office/drawing/2014/main" val="1941073762"/>
                  </a:ext>
                </a:extLst>
              </a:tr>
              <a:tr h="699519">
                <a:tc>
                  <a:txBody>
                    <a:bodyPr/>
                    <a:lstStyle/>
                    <a:p>
                      <a:pPr lvl="0">
                        <a:buNone/>
                      </a:pPr>
                      <a:r>
                        <a:rPr lang="en-US" sz="1300" b="0" i="0" u="none" strike="noStrike" noProof="0">
                          <a:latin typeface="Lucida Sans Unicode"/>
                          <a:cs typeface="Lucida Sans Unicode"/>
                        </a:rPr>
                        <a:t>Core Architecture</a:t>
                      </a:r>
                      <a:endParaRPr lang="en-US" sz="1300"/>
                    </a:p>
                  </a:txBody>
                  <a:tcPr/>
                </a:tc>
                <a:tc>
                  <a:txBody>
                    <a:bodyPr/>
                    <a:lstStyle/>
                    <a:p>
                      <a:pPr lvl="0">
                        <a:buNone/>
                      </a:pPr>
                      <a:r>
                        <a:rPr lang="en-US" sz="1300" b="0" i="0" u="none" strike="noStrike" noProof="0">
                          <a:latin typeface="Lucida Sans Unicode"/>
                          <a:cs typeface="Lucida Sans Unicode"/>
                        </a:rPr>
                        <a:t>Single-Core</a:t>
                      </a:r>
                      <a:endParaRPr lang="en-US" sz="1300"/>
                    </a:p>
                  </a:txBody>
                  <a:tcPr/>
                </a:tc>
                <a:tc>
                  <a:txBody>
                    <a:bodyPr/>
                    <a:lstStyle/>
                    <a:p>
                      <a:pPr lvl="0">
                        <a:buNone/>
                      </a:pPr>
                      <a:r>
                        <a:rPr lang="en-US" sz="1300" b="0" i="0" u="none" strike="noStrike" noProof="0">
                          <a:latin typeface="Lucida Sans Unicode"/>
                          <a:cs typeface="Lucida Sans Unicode"/>
                        </a:rPr>
                        <a:t>Quad-Core</a:t>
                      </a:r>
                      <a:endParaRPr lang="en-US" sz="1300"/>
                    </a:p>
                  </a:txBody>
                  <a:tcPr/>
                </a:tc>
                <a:tc>
                  <a:txBody>
                    <a:bodyPr/>
                    <a:lstStyle/>
                    <a:p>
                      <a:pPr lvl="0">
                        <a:buNone/>
                      </a:pPr>
                      <a:r>
                        <a:rPr lang="en-US" sz="1300" b="0" i="0" u="none" strike="noStrike" noProof="0">
                          <a:latin typeface="Lucida Sans Unicode"/>
                          <a:cs typeface="Lucida Sans Unicode"/>
                        </a:rPr>
                        <a:t>Dual-Core (Symmetric)</a:t>
                      </a:r>
                      <a:endParaRPr lang="en-US" sz="1300"/>
                    </a:p>
                  </a:txBody>
                  <a:tcPr/>
                </a:tc>
                <a:tc>
                  <a:txBody>
                    <a:bodyPr/>
                    <a:lstStyle/>
                    <a:p>
                      <a:pPr lvl="0">
                        <a:buNone/>
                      </a:pPr>
                      <a:r>
                        <a:rPr lang="en-US" sz="1300" b="0" i="0" u="none" strike="noStrike" noProof="0">
                          <a:latin typeface="Lucida Sans Unicode"/>
                          <a:cs typeface="Lucida Sans Unicode"/>
                        </a:rPr>
                        <a:t>Core 0 runs PF Optimization while Core 1 manages Load Demand.</a:t>
                      </a:r>
                      <a:endParaRPr lang="en-US" sz="1300"/>
                    </a:p>
                  </a:txBody>
                  <a:tcPr/>
                </a:tc>
                <a:extLst>
                  <a:ext uri="{0D108BD9-81ED-4DB2-BD59-A6C34878D82A}">
                    <a16:rowId xmlns:a16="http://schemas.microsoft.com/office/drawing/2014/main" val="380050350"/>
                  </a:ext>
                </a:extLst>
              </a:tr>
              <a:tr h="699519">
                <a:tc>
                  <a:txBody>
                    <a:bodyPr/>
                    <a:lstStyle/>
                    <a:p>
                      <a:pPr lvl="0">
                        <a:buNone/>
                      </a:pPr>
                      <a:r>
                        <a:rPr lang="en-US" sz="1300" b="0" i="0" u="none" strike="noStrike" noProof="0">
                          <a:latin typeface="Lucida Sans Unicode"/>
                          <a:cs typeface="Lucida Sans Unicode"/>
                        </a:rPr>
                        <a:t>Built-in Connectivity</a:t>
                      </a:r>
                      <a:endParaRPr lang="en-US" sz="1300"/>
                    </a:p>
                  </a:txBody>
                  <a:tcPr/>
                </a:tc>
                <a:tc>
                  <a:txBody>
                    <a:bodyPr/>
                    <a:lstStyle/>
                    <a:p>
                      <a:pPr lvl="0">
                        <a:buNone/>
                      </a:pPr>
                      <a:r>
                        <a:rPr lang="en-US" sz="1300" b="0" i="0" u="none" strike="noStrike" noProof="0">
                          <a:latin typeface="Lucida Sans Unicode"/>
                          <a:cs typeface="Lucida Sans Unicode"/>
                        </a:rPr>
                        <a:t>None (Requires Shields)</a:t>
                      </a:r>
                      <a:endParaRPr lang="en-US" sz="1300"/>
                    </a:p>
                  </a:txBody>
                  <a:tcPr/>
                </a:tc>
                <a:tc>
                  <a:txBody>
                    <a:bodyPr/>
                    <a:lstStyle/>
                    <a:p>
                      <a:pPr lvl="0">
                        <a:buNone/>
                      </a:pPr>
                      <a:r>
                        <a:rPr lang="en-US" sz="1300" b="0" i="0" u="none" strike="noStrike" noProof="0">
                          <a:latin typeface="Lucida Sans Unicode"/>
                          <a:cs typeface="Lucida Sans Unicode"/>
                        </a:rPr>
                        <a:t>Wi-Fi / Bluetooth</a:t>
                      </a:r>
                      <a:endParaRPr lang="en-US" sz="1300"/>
                    </a:p>
                  </a:txBody>
                  <a:tcPr/>
                </a:tc>
                <a:tc>
                  <a:txBody>
                    <a:bodyPr/>
                    <a:lstStyle/>
                    <a:p>
                      <a:pPr lvl="0">
                        <a:buNone/>
                      </a:pPr>
                      <a:r>
                        <a:rPr lang="en-US" sz="1300" b="0" i="0" u="none" strike="noStrike" noProof="0">
                          <a:latin typeface="Lucida Sans Unicode"/>
                          <a:cs typeface="Lucida Sans Unicode"/>
                        </a:rPr>
                        <a:t>Integrated Wi-Fi / BLE</a:t>
                      </a:r>
                      <a:endParaRPr lang="en-US" sz="1300"/>
                    </a:p>
                  </a:txBody>
                  <a:tcPr/>
                </a:tc>
                <a:tc>
                  <a:txBody>
                    <a:bodyPr/>
                    <a:lstStyle/>
                    <a:p>
                      <a:pPr lvl="0">
                        <a:buNone/>
                      </a:pPr>
                      <a:r>
                        <a:rPr lang="en-US" sz="1300" b="0" i="0" u="none" strike="noStrike" noProof="0">
                          <a:latin typeface="Lucida Sans Unicode"/>
                          <a:cs typeface="Lucida Sans Unicode"/>
                        </a:rPr>
                        <a:t>Direct uplink to the User/Admin Web App without extra hardware.</a:t>
                      </a:r>
                      <a:endParaRPr lang="en-US" sz="1300"/>
                    </a:p>
                  </a:txBody>
                  <a:tcPr/>
                </a:tc>
                <a:extLst>
                  <a:ext uri="{0D108BD9-81ED-4DB2-BD59-A6C34878D82A}">
                    <a16:rowId xmlns:a16="http://schemas.microsoft.com/office/drawing/2014/main" val="2838261406"/>
                  </a:ext>
                </a:extLst>
              </a:tr>
              <a:tr h="699519">
                <a:tc>
                  <a:txBody>
                    <a:bodyPr/>
                    <a:lstStyle/>
                    <a:p>
                      <a:pPr lvl="0">
                        <a:buNone/>
                      </a:pPr>
                      <a:r>
                        <a:rPr lang="en-US" sz="1300" b="0" i="0" u="none" strike="noStrike" noProof="0">
                          <a:latin typeface="Lucida Sans Unicode"/>
                          <a:cs typeface="Lucida Sans Unicode"/>
                        </a:rPr>
                        <a:t>ADC Resolution</a:t>
                      </a:r>
                      <a:endParaRPr lang="en-US" sz="1300"/>
                    </a:p>
                  </a:txBody>
                  <a:tcPr/>
                </a:tc>
                <a:tc>
                  <a:txBody>
                    <a:bodyPr/>
                    <a:lstStyle/>
                    <a:p>
                      <a:pPr lvl="0">
                        <a:buNone/>
                      </a:pPr>
                      <a:r>
                        <a:rPr lang="en-US" sz="1300" b="0" i="0" u="none" strike="noStrike" noProof="0">
                          <a:latin typeface="Lucida Sans Unicode"/>
                          <a:cs typeface="Lucida Sans Unicode"/>
                        </a:rPr>
                        <a:t>10-bit</a:t>
                      </a:r>
                      <a:endParaRPr lang="en-US" sz="1300"/>
                    </a:p>
                  </a:txBody>
                  <a:tcPr/>
                </a:tc>
                <a:tc>
                  <a:txBody>
                    <a:bodyPr/>
                    <a:lstStyle/>
                    <a:p>
                      <a:pPr lvl="0">
                        <a:buNone/>
                      </a:pPr>
                      <a:r>
                        <a:rPr lang="en-US" sz="1300" b="0" i="0" u="none" strike="noStrike" noProof="0">
                          <a:latin typeface="Lucida Sans Unicode"/>
                          <a:cs typeface="Lucida Sans Unicode"/>
                        </a:rPr>
                        <a:t>N/A (Digital only)</a:t>
                      </a:r>
                      <a:endParaRPr lang="en-US" sz="1300"/>
                    </a:p>
                  </a:txBody>
                  <a:tcPr/>
                </a:tc>
                <a:tc>
                  <a:txBody>
                    <a:bodyPr/>
                    <a:lstStyle/>
                    <a:p>
                      <a:pPr lvl="0">
                        <a:buNone/>
                      </a:pPr>
                      <a:r>
                        <a:rPr lang="en-US" sz="1300" b="0" i="0" u="none" strike="noStrike" noProof="0">
                          <a:latin typeface="Lucida Sans Unicode"/>
                          <a:cs typeface="Lucida Sans Unicode"/>
                        </a:rPr>
                        <a:t>12-bit (High Precision)</a:t>
                      </a:r>
                      <a:endParaRPr lang="en-US" sz="1300"/>
                    </a:p>
                  </a:txBody>
                  <a:tcPr/>
                </a:tc>
                <a:tc>
                  <a:txBody>
                    <a:bodyPr/>
                    <a:lstStyle/>
                    <a:p>
                      <a:pPr lvl="0">
                        <a:buNone/>
                      </a:pPr>
                      <a:r>
                        <a:rPr lang="en-US" sz="1300" b="0" i="0" u="none" strike="noStrike" noProof="0">
                          <a:latin typeface="Lucida Sans Unicode"/>
                          <a:cs typeface="Lucida Sans Unicode"/>
                        </a:rPr>
                        <a:t>Provides the precise current/voltage data needed for the Neural Network.</a:t>
                      </a:r>
                      <a:endParaRPr lang="en-US" sz="1300"/>
                    </a:p>
                  </a:txBody>
                  <a:tcPr/>
                </a:tc>
                <a:extLst>
                  <a:ext uri="{0D108BD9-81ED-4DB2-BD59-A6C34878D82A}">
                    <a16:rowId xmlns:a16="http://schemas.microsoft.com/office/drawing/2014/main" val="3613345944"/>
                  </a:ext>
                </a:extLst>
              </a:tr>
              <a:tr h="699519">
                <a:tc>
                  <a:txBody>
                    <a:bodyPr/>
                    <a:lstStyle/>
                    <a:p>
                      <a:pPr lvl="0">
                        <a:buNone/>
                      </a:pPr>
                      <a:r>
                        <a:rPr lang="en-US" sz="1300" b="0" i="0" u="none" strike="noStrike" noProof="0">
                          <a:latin typeface="Lucida Sans Unicode"/>
                          <a:cs typeface="Lucida Sans Unicode"/>
                        </a:rPr>
                        <a:t>Power Consumption</a:t>
                      </a:r>
                      <a:endParaRPr lang="en-US" sz="1300"/>
                    </a:p>
                  </a:txBody>
                  <a:tcPr/>
                </a:tc>
                <a:tc>
                  <a:txBody>
                    <a:bodyPr/>
                    <a:lstStyle/>
                    <a:p>
                      <a:pPr lvl="0">
                        <a:buNone/>
                      </a:pPr>
                      <a:r>
                        <a:rPr lang="en-US" sz="1300" b="0" i="0" u="none" strike="noStrike" noProof="0">
                          <a:latin typeface="Lucida Sans Unicode"/>
                          <a:cs typeface="Lucida Sans Unicode"/>
                        </a:rPr>
                        <a:t>Medium</a:t>
                      </a:r>
                      <a:endParaRPr lang="en-US" sz="1300"/>
                    </a:p>
                  </a:txBody>
                  <a:tcPr/>
                </a:tc>
                <a:tc>
                  <a:txBody>
                    <a:bodyPr/>
                    <a:lstStyle/>
                    <a:p>
                      <a:pPr lvl="0">
                        <a:buNone/>
                      </a:pPr>
                      <a:r>
                        <a:rPr lang="en-US" sz="1300" b="0" i="0" u="none" strike="noStrike" noProof="0">
                          <a:latin typeface="Lucida Sans Unicode"/>
                          <a:cs typeface="Lucida Sans Unicode"/>
                        </a:rPr>
                        <a:t>Very High</a:t>
                      </a:r>
                      <a:endParaRPr lang="en-US" sz="1300"/>
                    </a:p>
                  </a:txBody>
                  <a:tcPr/>
                </a:tc>
                <a:tc>
                  <a:txBody>
                    <a:bodyPr/>
                    <a:lstStyle/>
                    <a:p>
                      <a:pPr lvl="0">
                        <a:buNone/>
                      </a:pPr>
                      <a:r>
                        <a:rPr lang="en-US" sz="1300" b="0" i="0" u="none" strike="noStrike" noProof="0">
                          <a:latin typeface="Lucida Sans Unicode"/>
                          <a:cs typeface="Lucida Sans Unicode"/>
                        </a:rPr>
                        <a:t>Low Power (Sleep Modes)</a:t>
                      </a:r>
                      <a:endParaRPr lang="en-US" sz="1300"/>
                    </a:p>
                  </a:txBody>
                  <a:tcPr/>
                </a:tc>
                <a:tc>
                  <a:txBody>
                    <a:bodyPr/>
                    <a:lstStyle/>
                    <a:p>
                      <a:pPr lvl="0">
                        <a:buNone/>
                      </a:pPr>
                      <a:r>
                        <a:rPr lang="en-US" sz="1300" b="0" i="0" u="none" strike="noStrike" noProof="0">
                          <a:latin typeface="Lucida Sans Unicode"/>
                          <a:cs typeface="Lucida Sans Unicode"/>
                        </a:rPr>
                        <a:t>Fits the project goal of an energy-efficient, self-regulating control system.</a:t>
                      </a:r>
                      <a:endParaRPr lang="en-US" sz="1300"/>
                    </a:p>
                  </a:txBody>
                  <a:tcPr/>
                </a:tc>
                <a:extLst>
                  <a:ext uri="{0D108BD9-81ED-4DB2-BD59-A6C34878D82A}">
                    <a16:rowId xmlns:a16="http://schemas.microsoft.com/office/drawing/2014/main" val="2916398069"/>
                  </a:ext>
                </a:extLst>
              </a:tr>
              <a:tr h="699519">
                <a:tc>
                  <a:txBody>
                    <a:bodyPr/>
                    <a:lstStyle/>
                    <a:p>
                      <a:pPr lvl="0">
                        <a:buNone/>
                      </a:pPr>
                      <a:r>
                        <a:rPr lang="en-US" sz="1300" b="0" i="0" u="none" strike="noStrike" noProof="0">
                          <a:latin typeface="Lucida Sans Unicode"/>
                          <a:cs typeface="Lucida Sans Unicode"/>
                        </a:rPr>
                        <a:t>Cost &amp; Complexity</a:t>
                      </a:r>
                      <a:endParaRPr lang="en-US" sz="1300"/>
                    </a:p>
                  </a:txBody>
                  <a:tcPr/>
                </a:tc>
                <a:tc>
                  <a:txBody>
                    <a:bodyPr/>
                    <a:lstStyle/>
                    <a:p>
                      <a:pPr lvl="0">
                        <a:buNone/>
                      </a:pPr>
                      <a:r>
                        <a:rPr lang="en-US" sz="1300" b="0" i="0" u="none" strike="noStrike" noProof="0">
                          <a:latin typeface="Lucida Sans Unicode"/>
                          <a:cs typeface="Lucida Sans Unicode"/>
                        </a:rPr>
                        <a:t>Low / Simple</a:t>
                      </a:r>
                      <a:endParaRPr lang="en-US" sz="1300"/>
                    </a:p>
                  </a:txBody>
                  <a:tcPr/>
                </a:tc>
                <a:tc>
                  <a:txBody>
                    <a:bodyPr/>
                    <a:lstStyle/>
                    <a:p>
                      <a:pPr lvl="0">
                        <a:buNone/>
                      </a:pPr>
                      <a:r>
                        <a:rPr lang="en-US" sz="1300" b="0" i="0" u="none" strike="noStrike" noProof="0">
                          <a:latin typeface="Lucida Sans Unicode"/>
                          <a:cs typeface="Lucida Sans Unicode"/>
                        </a:rPr>
                        <a:t>High / Complex OS</a:t>
                      </a:r>
                      <a:endParaRPr lang="en-US" sz="1300"/>
                    </a:p>
                  </a:txBody>
                  <a:tcPr/>
                </a:tc>
                <a:tc>
                  <a:txBody>
                    <a:bodyPr/>
                    <a:lstStyle/>
                    <a:p>
                      <a:pPr lvl="0">
                        <a:buNone/>
                      </a:pPr>
                      <a:r>
                        <a:rPr lang="en-US" sz="1300" b="0" i="0" u="none" strike="noStrike" noProof="0">
                          <a:latin typeface="Lucida Sans Unicode"/>
                          <a:cs typeface="Lucida Sans Unicode"/>
                        </a:rPr>
                        <a:t>Optimized Efficiency</a:t>
                      </a:r>
                      <a:endParaRPr lang="en-US" sz="1300"/>
                    </a:p>
                  </a:txBody>
                  <a:tcPr/>
                </a:tc>
                <a:tc>
                  <a:txBody>
                    <a:bodyPr/>
                    <a:lstStyle/>
                    <a:p>
                      <a:pPr lvl="0">
                        <a:buNone/>
                      </a:pPr>
                      <a:r>
                        <a:rPr lang="en-US" sz="1300" b="0" i="0" u="none" strike="noStrike" noProof="0">
                          <a:latin typeface="Lucida Sans Unicode"/>
                          <a:cs typeface="Lucida Sans Unicode"/>
                        </a:rPr>
                        <a:t>Offers the "Edge AI" power of a Pi with the hardware simplicity of an Arduino.</a:t>
                      </a:r>
                      <a:endParaRPr lang="en-US" sz="1300"/>
                    </a:p>
                  </a:txBody>
                  <a:tcPr/>
                </a:tc>
                <a:extLst>
                  <a:ext uri="{0D108BD9-81ED-4DB2-BD59-A6C34878D82A}">
                    <a16:rowId xmlns:a16="http://schemas.microsoft.com/office/drawing/2014/main" val="1310878954"/>
                  </a:ext>
                </a:extLst>
              </a:tr>
            </a:tbl>
          </a:graphicData>
        </a:graphic>
      </p:graphicFrame>
    </p:spTree>
    <p:extLst>
      <p:ext uri="{BB962C8B-B14F-4D97-AF65-F5344CB8AC3E}">
        <p14:creationId xmlns:p14="http://schemas.microsoft.com/office/powerpoint/2010/main" val="553732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91956-14C4-3EAE-DCDF-55D2F1BEFD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3CB6953-1E19-35A3-4B8B-5F7C706467BC}"/>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29301DF7-B130-C17B-B4F4-663033BD9B97}"/>
              </a:ext>
            </a:extLst>
          </p:cNvPr>
          <p:cNvSpPr/>
          <p:nvPr/>
        </p:nvSpPr>
        <p:spPr>
          <a:xfrm>
            <a:off x="532356" y="1620033"/>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pic>
        <p:nvPicPr>
          <p:cNvPr id="3" name="Picture 2">
            <a:extLst>
              <a:ext uri="{FF2B5EF4-FFF2-40B4-BE49-F238E27FC236}">
                <a16:creationId xmlns:a16="http://schemas.microsoft.com/office/drawing/2014/main" id="{FED4B7A4-6E11-B973-4269-55FB9F7597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
        <p:nvSpPr>
          <p:cNvPr id="2" name="TextBox 1">
            <a:extLst>
              <a:ext uri="{FF2B5EF4-FFF2-40B4-BE49-F238E27FC236}">
                <a16:creationId xmlns:a16="http://schemas.microsoft.com/office/drawing/2014/main" id="{E5829BA8-4768-A5E2-98AA-D1786DB34A93}"/>
              </a:ext>
            </a:extLst>
          </p:cNvPr>
          <p:cNvSpPr txBox="1"/>
          <p:nvPr/>
        </p:nvSpPr>
        <p:spPr>
          <a:xfrm>
            <a:off x="3522945" y="2271791"/>
            <a:ext cx="20962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latin typeface="Times New Roman"/>
                <a:cs typeface="Lucida Sans Unicode"/>
              </a:rPr>
              <a:t>METHODOLOGY</a:t>
            </a:r>
            <a:endParaRPr lang="en-US" b="1" dirty="0">
              <a:latin typeface="Times New Roman"/>
              <a:cs typeface="Times New Roman"/>
            </a:endParaRPr>
          </a:p>
        </p:txBody>
      </p:sp>
      <p:sp>
        <p:nvSpPr>
          <p:cNvPr id="5" name="TextBox 4">
            <a:extLst>
              <a:ext uri="{FF2B5EF4-FFF2-40B4-BE49-F238E27FC236}">
                <a16:creationId xmlns:a16="http://schemas.microsoft.com/office/drawing/2014/main" id="{BE68727A-31CE-01AB-A592-C4EBC148654B}"/>
              </a:ext>
            </a:extLst>
          </p:cNvPr>
          <p:cNvSpPr txBox="1"/>
          <p:nvPr/>
        </p:nvSpPr>
        <p:spPr>
          <a:xfrm>
            <a:off x="542795" y="2639607"/>
            <a:ext cx="8062821"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highlight>
                  <a:srgbClr val="FFFFFF"/>
                </a:highlight>
                <a:latin typeface="Times New Roman"/>
                <a:ea typeface="+mn-lt"/>
                <a:cs typeface="+mn-lt"/>
              </a:rPr>
              <a:t>The approach of the Smart Integrated Load Demand Management System incorporates a control circuit, along with load monitoring units associated with both the load and generation aspects. Power generated by motors paired with alternators is regulated through IoT-enabled Narrow Band communication, providing voltage-adjusted power to users according to immediate demand. An overload is detected by a current transformer, which triggers the controller to engage additional motors for supplementary power, repeating this process as necessary. </a:t>
            </a:r>
            <a:endParaRPr lang="en-US"/>
          </a:p>
          <a:p>
            <a:pPr algn="just"/>
            <a:endParaRPr lang="en-US" dirty="0">
              <a:highlight>
                <a:srgbClr val="FFFFFF"/>
              </a:highlight>
              <a:latin typeface="Times New Roman"/>
              <a:ea typeface="+mn-lt"/>
              <a:cs typeface="+mn-lt"/>
            </a:endParaRPr>
          </a:p>
          <a:p>
            <a:pPr algn="just"/>
            <a:r>
              <a:rPr lang="en-US" dirty="0">
                <a:highlight>
                  <a:srgbClr val="FFFFFF"/>
                </a:highlight>
                <a:latin typeface="Times New Roman"/>
                <a:ea typeface="+mn-lt"/>
                <a:cs typeface="+mn-lt"/>
              </a:rPr>
              <a:t>Prior to providing extra power, the synchronization unit guarantees the alignment of voltage and frequency. The system independently handles load requirements, ensuring a consistent and dependable power supply, while also accommodating various renewable energy sources. The project progression consists of acquiring components, conducting tests, designing, developing, assembling, and monitoring.</a:t>
            </a:r>
            <a:endParaRPr lang="en-US">
              <a:highlight>
                <a:srgbClr val="FFFFFF"/>
              </a:highlight>
              <a:latin typeface="Times New Roman"/>
              <a:cs typeface="Lucida Sans Unicode"/>
            </a:endParaRPr>
          </a:p>
        </p:txBody>
      </p:sp>
    </p:spTree>
    <p:extLst>
      <p:ext uri="{BB962C8B-B14F-4D97-AF65-F5344CB8AC3E}">
        <p14:creationId xmlns:p14="http://schemas.microsoft.com/office/powerpoint/2010/main" val="948583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2E3C9-8598-6ED4-162F-06ACE8459DF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56D010-F130-395B-C0C8-DB57F0060704}"/>
              </a:ext>
            </a:extLst>
          </p:cNvPr>
          <p:cNvSpPr txBox="1"/>
          <p:nvPr/>
        </p:nvSpPr>
        <p:spPr>
          <a:xfrm>
            <a:off x="1333500" y="15895"/>
            <a:ext cx="6477000" cy="1508105"/>
          </a:xfrm>
          <a:prstGeom prst="rect">
            <a:avLst/>
          </a:prstGeom>
          <a:noFill/>
        </p:spPr>
        <p:txBody>
          <a:bodyPr wrap="square" rtlCol="0">
            <a:spAutoFit/>
          </a:bodyPr>
          <a:lstStyle/>
          <a:p>
            <a:pPr algn="ctr"/>
            <a:r>
              <a:rPr lang="en-US" sz="4800" b="1">
                <a:solidFill>
                  <a:srgbClr val="C00000"/>
                </a:solidFill>
                <a:latin typeface="Times New Roman" pitchFamily="18" charset="0"/>
                <a:cs typeface="Times New Roman" pitchFamily="18" charset="0"/>
              </a:rPr>
              <a:t> PRATHYUSHA   </a:t>
            </a:r>
            <a:r>
              <a:rPr lang="en-US" sz="2800" b="1">
                <a:solidFill>
                  <a:srgbClr val="C00000"/>
                </a:solidFill>
                <a:latin typeface="Times New Roman" pitchFamily="18" charset="0"/>
                <a:cs typeface="Times New Roman" pitchFamily="18" charset="0"/>
              </a:rPr>
              <a:t>ENGINEERING COLLEGE </a:t>
            </a:r>
          </a:p>
          <a:p>
            <a:pPr algn="ctr"/>
            <a:r>
              <a:rPr lang="en-US" sz="1600" b="1">
                <a:solidFill>
                  <a:srgbClr val="C00000"/>
                </a:solidFill>
                <a:latin typeface="Times New Roman" pitchFamily="18" charset="0"/>
                <a:cs typeface="Times New Roman" pitchFamily="18" charset="0"/>
              </a:rPr>
              <a:t>AN AUTONOMOUS INSTITUTION</a:t>
            </a:r>
            <a:endParaRPr lang="en-US" sz="160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8A6D5AC4-1045-C9DD-5DF7-D4DFB91E98D1}"/>
              </a:ext>
            </a:extLst>
          </p:cNvPr>
          <p:cNvSpPr/>
          <p:nvPr/>
        </p:nvSpPr>
        <p:spPr>
          <a:xfrm>
            <a:off x="532356" y="1620033"/>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DEPARTMENT OF EEE  </a:t>
            </a:r>
          </a:p>
        </p:txBody>
      </p:sp>
      <p:pic>
        <p:nvPicPr>
          <p:cNvPr id="3" name="Picture 2">
            <a:extLst>
              <a:ext uri="{FF2B5EF4-FFF2-40B4-BE49-F238E27FC236}">
                <a16:creationId xmlns:a16="http://schemas.microsoft.com/office/drawing/2014/main" id="{8BB30A42-9802-5271-8E25-6D130735A0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
        <p:nvSpPr>
          <p:cNvPr id="2" name="TextBox 1">
            <a:extLst>
              <a:ext uri="{FF2B5EF4-FFF2-40B4-BE49-F238E27FC236}">
                <a16:creationId xmlns:a16="http://schemas.microsoft.com/office/drawing/2014/main" id="{0E719E6D-53FE-D205-AA91-FF6BFF9CEFC1}"/>
              </a:ext>
            </a:extLst>
          </p:cNvPr>
          <p:cNvSpPr txBox="1"/>
          <p:nvPr/>
        </p:nvSpPr>
        <p:spPr>
          <a:xfrm>
            <a:off x="1639511" y="2199904"/>
            <a:ext cx="58630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METHODOLOGY </a:t>
            </a:r>
            <a:r>
              <a:rPr lang="en-US" b="1">
                <a:latin typeface="Times New Roman"/>
                <a:ea typeface="+mn-lt"/>
                <a:cs typeface="Times New Roman"/>
              </a:rPr>
              <a:t>– TECHNICAL SPECIFICATIONS</a:t>
            </a:r>
            <a:endParaRPr lang="en-US">
              <a:latin typeface="Times New Roman"/>
              <a:cs typeface="Times New Roman"/>
            </a:endParaRPr>
          </a:p>
        </p:txBody>
      </p:sp>
      <p:sp>
        <p:nvSpPr>
          <p:cNvPr id="5" name="TextBox 4">
            <a:extLst>
              <a:ext uri="{FF2B5EF4-FFF2-40B4-BE49-F238E27FC236}">
                <a16:creationId xmlns:a16="http://schemas.microsoft.com/office/drawing/2014/main" id="{1B66AF88-2F49-6D41-1794-3074ADE6B323}"/>
              </a:ext>
            </a:extLst>
          </p:cNvPr>
          <p:cNvSpPr txBox="1"/>
          <p:nvPr/>
        </p:nvSpPr>
        <p:spPr>
          <a:xfrm>
            <a:off x="528418" y="2639607"/>
            <a:ext cx="8077198"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a:highlight>
                  <a:srgbClr val="FFFFFF"/>
                </a:highlight>
                <a:latin typeface="Times New Roman"/>
                <a:ea typeface="+mn-lt"/>
                <a:cs typeface="Times New Roman"/>
              </a:rPr>
              <a:t>Dual-Core Processing (ESP32) Core 0 executes Neural Network PF Correction (200µs rate) and Core 1 manages Source Switching and MQTT/IoT data.</a:t>
            </a:r>
            <a:endParaRPr lang="en-US">
              <a:latin typeface="Times New Roman"/>
              <a:ea typeface="+mn-lt"/>
              <a:cs typeface="Times New Roman"/>
            </a:endParaRPr>
          </a:p>
          <a:p>
            <a:pPr marL="285750" indent="-285750" algn="just">
              <a:buFont typeface="Arial"/>
              <a:buChar char="•"/>
            </a:pPr>
            <a:r>
              <a:rPr lang="en-US">
                <a:highlight>
                  <a:srgbClr val="FFFFFF"/>
                </a:highlight>
                <a:latin typeface="Times New Roman"/>
                <a:ea typeface="+mn-lt"/>
                <a:cs typeface="Times New Roman"/>
              </a:rPr>
              <a:t>Multi-Layer Perception (MLP) Neural Network maps P, Q, and V to maintain 1.0 PF via a Static VAR Compensator.</a:t>
            </a:r>
            <a:endParaRPr lang="en-US">
              <a:latin typeface="Times New Roman"/>
              <a:ea typeface="+mn-lt"/>
              <a:cs typeface="Times New Roman"/>
            </a:endParaRPr>
          </a:p>
          <a:p>
            <a:pPr marL="285750" indent="-285750" algn="just">
              <a:buFont typeface="Arial"/>
              <a:buChar char="•"/>
            </a:pPr>
            <a:r>
              <a:rPr lang="en-US">
                <a:highlight>
                  <a:srgbClr val="FFFFFF"/>
                </a:highlight>
                <a:latin typeface="Times New Roman"/>
                <a:ea typeface="+mn-lt"/>
                <a:cs typeface="Times New Roman"/>
              </a:rPr>
              <a:t>Load Demand Management ensures Predictive Source switching for Solar (&gt;6kW) and Wind (&gt;9kW) with a 500W hysteresis buffer.</a:t>
            </a:r>
            <a:endParaRPr lang="en-US">
              <a:latin typeface="Times New Roman"/>
              <a:ea typeface="+mn-lt"/>
              <a:cs typeface="Times New Roman"/>
            </a:endParaRPr>
          </a:p>
          <a:p>
            <a:pPr marL="285750" indent="-285750" algn="just">
              <a:buFont typeface="Arial"/>
              <a:buChar char="•"/>
            </a:pPr>
            <a:r>
              <a:rPr lang="en-US">
                <a:highlight>
                  <a:srgbClr val="FFFFFF"/>
                </a:highlight>
                <a:latin typeface="Times New Roman"/>
                <a:ea typeface="+mn-lt"/>
                <a:cs typeface="Times New Roman"/>
              </a:rPr>
              <a:t>ACS712 sensors with 12-bit ADC provide 0.8mV/unit resolution for real-time current monitoring.</a:t>
            </a:r>
            <a:endParaRPr lang="en-US">
              <a:latin typeface="Times New Roman"/>
              <a:ea typeface="+mn-lt"/>
              <a:cs typeface="Times New Roman"/>
            </a:endParaRPr>
          </a:p>
          <a:p>
            <a:pPr marL="285750" indent="-285750" algn="just">
              <a:buFont typeface="Arial"/>
              <a:buChar char="•"/>
            </a:pPr>
            <a:r>
              <a:rPr lang="en-US">
                <a:highlight>
                  <a:srgbClr val="FFFFFF"/>
                </a:highlight>
                <a:latin typeface="Times New Roman"/>
                <a:ea typeface="+mn-lt"/>
                <a:cs typeface="Times New Roman"/>
              </a:rPr>
              <a:t>Discrete solver at 0.0002s sample time successfully tests 4kW to 15kW load-step transitions.</a:t>
            </a:r>
            <a:endParaRPr lang="en-US">
              <a:latin typeface="Times New Roman"/>
              <a:ea typeface="+mn-lt"/>
              <a:cs typeface="Times New Roman"/>
            </a:endParaRPr>
          </a:p>
          <a:p>
            <a:pPr marL="285750" indent="-285750" algn="just">
              <a:buFont typeface="Arial"/>
              <a:buChar char="•"/>
            </a:pPr>
            <a:r>
              <a:rPr lang="en-US">
                <a:highlight>
                  <a:srgbClr val="FFFFFF"/>
                </a:highlight>
                <a:latin typeface="Times New Roman"/>
                <a:ea typeface="+mn-lt"/>
                <a:cs typeface="Times New Roman"/>
              </a:rPr>
              <a:t>Sensor data streams via MQTT to a Firebase Database for Admin/User web-interface monitoring.</a:t>
            </a:r>
            <a:endParaRPr lang="en-US">
              <a:latin typeface="Times New Roman"/>
              <a:ea typeface="+mn-lt"/>
              <a:cs typeface="Times New Roman"/>
            </a:endParaRPr>
          </a:p>
        </p:txBody>
      </p:sp>
    </p:spTree>
    <p:extLst>
      <p:ext uri="{BB962C8B-B14F-4D97-AF65-F5344CB8AC3E}">
        <p14:creationId xmlns:p14="http://schemas.microsoft.com/office/powerpoint/2010/main" val="4121729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80904-FF05-5696-48ED-D89E9249D53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69C42F-1C56-3756-0697-4B75ABD71A8C}"/>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3F0EA91B-DA51-A3E8-73D5-8C5F1FE1CC32}"/>
              </a:ext>
            </a:extLst>
          </p:cNvPr>
          <p:cNvSpPr/>
          <p:nvPr/>
        </p:nvSpPr>
        <p:spPr>
          <a:xfrm>
            <a:off x="532356" y="1620033"/>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pic>
        <p:nvPicPr>
          <p:cNvPr id="3" name="Picture 2">
            <a:extLst>
              <a:ext uri="{FF2B5EF4-FFF2-40B4-BE49-F238E27FC236}">
                <a16:creationId xmlns:a16="http://schemas.microsoft.com/office/drawing/2014/main" id="{C496B8AD-D89C-96A7-E3CA-6AA437E3C0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
        <p:nvSpPr>
          <p:cNvPr id="2" name="TextBox 1">
            <a:extLst>
              <a:ext uri="{FF2B5EF4-FFF2-40B4-BE49-F238E27FC236}">
                <a16:creationId xmlns:a16="http://schemas.microsoft.com/office/drawing/2014/main" id="{3D471DD8-5901-108E-05B2-B1B2172343ED}"/>
              </a:ext>
            </a:extLst>
          </p:cNvPr>
          <p:cNvSpPr txBox="1"/>
          <p:nvPr/>
        </p:nvSpPr>
        <p:spPr>
          <a:xfrm>
            <a:off x="2831172" y="2189950"/>
            <a:ext cx="570129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Lucida Sans Unicode"/>
              </a:rPr>
              <a:t>REAL-TIME</a:t>
            </a:r>
            <a:r>
              <a:rPr lang="en-US" b="1" dirty="0">
                <a:latin typeface="Times New Roman"/>
                <a:cs typeface="Lucida Sans Unicode"/>
              </a:rPr>
              <a:t> INTEGRATION</a:t>
            </a:r>
            <a:endParaRPr lang="en-US"/>
          </a:p>
        </p:txBody>
      </p:sp>
      <p:sp>
        <p:nvSpPr>
          <p:cNvPr id="5" name="TextBox 4">
            <a:extLst>
              <a:ext uri="{FF2B5EF4-FFF2-40B4-BE49-F238E27FC236}">
                <a16:creationId xmlns:a16="http://schemas.microsoft.com/office/drawing/2014/main" id="{B24912D1-F413-69D9-0745-5AC7F56FE438}"/>
              </a:ext>
            </a:extLst>
          </p:cNvPr>
          <p:cNvSpPr txBox="1"/>
          <p:nvPr/>
        </p:nvSpPr>
        <p:spPr>
          <a:xfrm>
            <a:off x="542795" y="2639607"/>
            <a:ext cx="8062821"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dirty="0">
                <a:highlight>
                  <a:srgbClr val="FFFFFF"/>
                </a:highlight>
                <a:latin typeface="Times New Roman"/>
                <a:ea typeface="Calibri"/>
                <a:cs typeface="Times New Roman"/>
              </a:rPr>
              <a:t>A</a:t>
            </a:r>
            <a:r>
              <a:rPr lang="en-US" dirty="0">
                <a:highlight>
                  <a:srgbClr val="FFFFFF"/>
                </a:highlight>
                <a:latin typeface="Times New Roman"/>
                <a:ea typeface="+mn-lt"/>
                <a:cs typeface="Times New Roman"/>
              </a:rPr>
              <a:t> dual-core ESP32 Microcontroller serves as the central "Brain," executing two independent algorithms in parallel to ensure zero-latency grid management. The system uses a Multitasking RTOS (Real-Time Operating System) environment to separate the Power Factor (PF) optimization from the Load Demand logic.</a:t>
            </a:r>
            <a:endParaRPr lang="en-US" dirty="0">
              <a:latin typeface="Times New Roman"/>
              <a:ea typeface="Calibri"/>
              <a:cs typeface="Times New Roman"/>
            </a:endParaRPr>
          </a:p>
          <a:p>
            <a:pPr algn="just"/>
            <a:endParaRPr lang="en-US" dirty="0">
              <a:highlight>
                <a:srgbClr val="FFFFFF"/>
              </a:highlight>
              <a:latin typeface="Times New Roman"/>
              <a:ea typeface="Calibri"/>
              <a:cs typeface="Times New Roman"/>
            </a:endParaRPr>
          </a:p>
          <a:p>
            <a:pPr marL="285750" indent="-285750" algn="just">
              <a:buFont typeface="Arial"/>
              <a:buChar char="•"/>
            </a:pPr>
            <a:r>
              <a:rPr lang="en-US" dirty="0">
                <a:highlight>
                  <a:srgbClr val="FFFFFF"/>
                </a:highlight>
                <a:latin typeface="Times New Roman"/>
                <a:ea typeface="+mn-lt"/>
                <a:cs typeface="Times New Roman"/>
              </a:rPr>
              <a:t>Function Fitting Neural Network (Supervised Learning) is used for the Real-time processing of Grid P and Q data to calculate the exact reactive power injection required for a 1.0 Power Factor. It Controls the Static VAR Compensator through high-speed Pulse Width Modulation (PWM).</a:t>
            </a:r>
            <a:endParaRPr lang="en-US" dirty="0">
              <a:highlight>
                <a:srgbClr val="FFFFFF"/>
              </a:highlight>
              <a:latin typeface="Times New Roman"/>
              <a:cs typeface="Times New Roman"/>
            </a:endParaRPr>
          </a:p>
          <a:p>
            <a:pPr marL="285750" indent="-285750" algn="just">
              <a:buFont typeface="Arial"/>
              <a:buChar char="•"/>
            </a:pPr>
            <a:endParaRPr lang="en-US" dirty="0">
              <a:highlight>
                <a:srgbClr val="FFFFFF"/>
              </a:highlight>
              <a:latin typeface="Times New Roman"/>
              <a:ea typeface="Calibri"/>
              <a:cs typeface="Times New Roman"/>
            </a:endParaRPr>
          </a:p>
          <a:p>
            <a:pPr marL="285750" indent="-285750" algn="just">
              <a:buFont typeface="Arial"/>
              <a:buChar char="•"/>
            </a:pPr>
            <a:r>
              <a:rPr lang="en-US" dirty="0">
                <a:highlight>
                  <a:srgbClr val="FFFFFF"/>
                </a:highlight>
                <a:latin typeface="Times New Roman"/>
                <a:ea typeface="+mn-lt"/>
                <a:cs typeface="Times New Roman"/>
              </a:rPr>
              <a:t>Predictive Logic &amp; Threshold Analysis is used to Monitor the P-load and Q-load of the Heavy Load branches while cross-referencing real-time Weather API data. It automatically triggers Solar and Wind source breakers to prevent grid overloading during peak consumption events.</a:t>
            </a:r>
            <a:endParaRPr lang="en-US">
              <a:latin typeface="Times New Roman"/>
              <a:cs typeface="Times New Roman"/>
            </a:endParaRPr>
          </a:p>
          <a:p>
            <a:pPr algn="just"/>
            <a:endParaRPr lang="en-US" dirty="0">
              <a:highlight>
                <a:srgbClr val="FFFFFF"/>
              </a:highlight>
              <a:latin typeface="Times New Roman"/>
              <a:cs typeface="Times New Roman"/>
            </a:endParaRPr>
          </a:p>
        </p:txBody>
      </p:sp>
    </p:spTree>
    <p:extLst>
      <p:ext uri="{BB962C8B-B14F-4D97-AF65-F5344CB8AC3E}">
        <p14:creationId xmlns:p14="http://schemas.microsoft.com/office/powerpoint/2010/main" val="755993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7F453-972C-5821-3C34-FBA0385FA47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90B94A-7603-3483-5327-AF4D64DE85C8}"/>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EEC175F0-554E-A85F-6C86-9DB8F40CD85D}"/>
              </a:ext>
            </a:extLst>
          </p:cNvPr>
          <p:cNvSpPr/>
          <p:nvPr/>
        </p:nvSpPr>
        <p:spPr>
          <a:xfrm>
            <a:off x="532356" y="1828800"/>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pic>
        <p:nvPicPr>
          <p:cNvPr id="3" name="Picture 2">
            <a:extLst>
              <a:ext uri="{FF2B5EF4-FFF2-40B4-BE49-F238E27FC236}">
                <a16:creationId xmlns:a16="http://schemas.microsoft.com/office/drawing/2014/main" id="{6543514C-4846-4898-6F32-7888449CD2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
        <p:nvSpPr>
          <p:cNvPr id="7" name="TextBox 6">
            <a:extLst>
              <a:ext uri="{FF2B5EF4-FFF2-40B4-BE49-F238E27FC236}">
                <a16:creationId xmlns:a16="http://schemas.microsoft.com/office/drawing/2014/main" id="{A30C3641-8124-0B95-0EEC-44DD6BB48541}"/>
              </a:ext>
            </a:extLst>
          </p:cNvPr>
          <p:cNvSpPr txBox="1"/>
          <p:nvPr/>
        </p:nvSpPr>
        <p:spPr>
          <a:xfrm>
            <a:off x="3711164" y="2462950"/>
            <a:ext cx="17312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WORKFLOW</a:t>
            </a:r>
            <a:endParaRPr lang="en-US" b="1" dirty="0">
              <a:latin typeface="Times New Roman"/>
              <a:cs typeface="Times New Roman"/>
            </a:endParaRPr>
          </a:p>
        </p:txBody>
      </p:sp>
      <p:pic>
        <p:nvPicPr>
          <p:cNvPr id="5" name="Picture 4" descr="A diagram of a company&#10;&#10;AI-generated content may be incorrect.">
            <a:extLst>
              <a:ext uri="{FF2B5EF4-FFF2-40B4-BE49-F238E27FC236}">
                <a16:creationId xmlns:a16="http://schemas.microsoft.com/office/drawing/2014/main" id="{42C1184F-A254-30D6-F555-402C15901815}"/>
              </a:ext>
            </a:extLst>
          </p:cNvPr>
          <p:cNvPicPr>
            <a:picLocks noChangeAspect="1"/>
          </p:cNvPicPr>
          <p:nvPr/>
        </p:nvPicPr>
        <p:blipFill>
          <a:blip r:embed="rId3"/>
          <a:srcRect l="26475" t="27110" r="26475" b="26854"/>
          <a:stretch>
            <a:fillRect/>
          </a:stretch>
        </p:blipFill>
        <p:spPr>
          <a:xfrm>
            <a:off x="951033" y="2832043"/>
            <a:ext cx="7248067" cy="3999702"/>
          </a:xfrm>
          <a:prstGeom prst="rect">
            <a:avLst/>
          </a:prstGeom>
        </p:spPr>
      </p:pic>
    </p:spTree>
    <p:extLst>
      <p:ext uri="{BB962C8B-B14F-4D97-AF65-F5344CB8AC3E}">
        <p14:creationId xmlns:p14="http://schemas.microsoft.com/office/powerpoint/2010/main" val="1540088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886963-0E4F-9858-1983-AEF491BB73F2}"/>
              </a:ext>
            </a:extLst>
          </p:cNvPr>
          <p:cNvSpPr txBox="1"/>
          <p:nvPr/>
        </p:nvSpPr>
        <p:spPr>
          <a:xfrm>
            <a:off x="2674958" y="2089845"/>
            <a:ext cx="356270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Calibri"/>
                <a:ea typeface="Calibri"/>
                <a:cs typeface="Calibri"/>
              </a:rPr>
              <a:t>EXISTING SYSTEM SIMULATION</a:t>
            </a:r>
          </a:p>
        </p:txBody>
      </p:sp>
      <p:sp>
        <p:nvSpPr>
          <p:cNvPr id="10" name="TextBox 9">
            <a:extLst>
              <a:ext uri="{FF2B5EF4-FFF2-40B4-BE49-F238E27FC236}">
                <a16:creationId xmlns:a16="http://schemas.microsoft.com/office/drawing/2014/main" id="{CF904340-62E0-B7D6-8BD0-F6C422D1BE47}"/>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12" name="Rectangle 11">
            <a:extLst>
              <a:ext uri="{FF2B5EF4-FFF2-40B4-BE49-F238E27FC236}">
                <a16:creationId xmlns:a16="http://schemas.microsoft.com/office/drawing/2014/main" id="{649CB3A7-118C-422E-59A4-D839D30DA3BC}"/>
              </a:ext>
            </a:extLst>
          </p:cNvPr>
          <p:cNvSpPr/>
          <p:nvPr/>
        </p:nvSpPr>
        <p:spPr>
          <a:xfrm>
            <a:off x="417337" y="1526876"/>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pic>
        <p:nvPicPr>
          <p:cNvPr id="14" name="Picture 13">
            <a:extLst>
              <a:ext uri="{FF2B5EF4-FFF2-40B4-BE49-F238E27FC236}">
                <a16:creationId xmlns:a16="http://schemas.microsoft.com/office/drawing/2014/main" id="{81FC0872-9E5E-2A39-4994-7A26D3DFA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875" y="157253"/>
            <a:ext cx="1223963" cy="1223963"/>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94616752-E78F-AC9A-FFB6-086A47C2597E}"/>
              </a:ext>
            </a:extLst>
          </p:cNvPr>
          <p:cNvPicPr>
            <a:picLocks noChangeAspect="1"/>
          </p:cNvPicPr>
          <p:nvPr/>
        </p:nvPicPr>
        <p:blipFill>
          <a:blip r:embed="rId3"/>
          <a:stretch>
            <a:fillRect/>
          </a:stretch>
        </p:blipFill>
        <p:spPr>
          <a:xfrm>
            <a:off x="0" y="2707596"/>
            <a:ext cx="9144000" cy="1175078"/>
          </a:xfrm>
          <a:prstGeom prst="rect">
            <a:avLst/>
          </a:prstGeom>
        </p:spPr>
      </p:pic>
      <p:pic>
        <p:nvPicPr>
          <p:cNvPr id="5" name="Picture 4" descr="A diagram of a power factor&#10;&#10;AI-generated content may be incorrect.">
            <a:extLst>
              <a:ext uri="{FF2B5EF4-FFF2-40B4-BE49-F238E27FC236}">
                <a16:creationId xmlns:a16="http://schemas.microsoft.com/office/drawing/2014/main" id="{3F1A68B1-FA4E-3516-E890-DBC2B547F2FB}"/>
              </a:ext>
            </a:extLst>
          </p:cNvPr>
          <p:cNvPicPr>
            <a:picLocks noChangeAspect="1"/>
          </p:cNvPicPr>
          <p:nvPr/>
        </p:nvPicPr>
        <p:blipFill>
          <a:blip r:embed="rId4"/>
          <a:stretch>
            <a:fillRect/>
          </a:stretch>
        </p:blipFill>
        <p:spPr>
          <a:xfrm>
            <a:off x="0" y="3882686"/>
            <a:ext cx="9144000" cy="2140629"/>
          </a:xfrm>
          <a:prstGeom prst="rect">
            <a:avLst/>
          </a:prstGeom>
        </p:spPr>
      </p:pic>
    </p:spTree>
    <p:extLst>
      <p:ext uri="{BB962C8B-B14F-4D97-AF65-F5344CB8AC3E}">
        <p14:creationId xmlns:p14="http://schemas.microsoft.com/office/powerpoint/2010/main" val="1115290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7C4CF55-4D77-FE59-C068-BD5A9735F0BB}"/>
              </a:ext>
            </a:extLst>
          </p:cNvPr>
          <p:cNvSpPr txBox="1"/>
          <p:nvPr/>
        </p:nvSpPr>
        <p:spPr>
          <a:xfrm>
            <a:off x="415923" y="1921141"/>
            <a:ext cx="846496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cs typeface="Lucida Sans Unicode"/>
              </a:rPr>
              <a:t>POWER FACTOR</a:t>
            </a:r>
            <a:r>
              <a:rPr lang="en-US" b="1" dirty="0">
                <a:cs typeface="Lucida Sans Unicode"/>
              </a:rPr>
              <a:t> OPTIMIZATION AND LOAD DEMAND MANAGEMENT SYSTEM</a:t>
            </a:r>
          </a:p>
        </p:txBody>
      </p:sp>
      <p:sp>
        <p:nvSpPr>
          <p:cNvPr id="12" name="TextBox 11">
            <a:extLst>
              <a:ext uri="{FF2B5EF4-FFF2-40B4-BE49-F238E27FC236}">
                <a16:creationId xmlns:a16="http://schemas.microsoft.com/office/drawing/2014/main" id="{8ABCE86D-F9FB-6F7D-3F9A-C8E25DB2F240}"/>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14" name="Rectangle 13">
            <a:extLst>
              <a:ext uri="{FF2B5EF4-FFF2-40B4-BE49-F238E27FC236}">
                <a16:creationId xmlns:a16="http://schemas.microsoft.com/office/drawing/2014/main" id="{2D63E860-0E0C-B130-0C08-2D4E1847BB6D}"/>
              </a:ext>
            </a:extLst>
          </p:cNvPr>
          <p:cNvSpPr/>
          <p:nvPr/>
        </p:nvSpPr>
        <p:spPr>
          <a:xfrm>
            <a:off x="417337" y="1526876"/>
            <a:ext cx="8149086" cy="3278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pic>
        <p:nvPicPr>
          <p:cNvPr id="16" name="Picture 15" descr="A logo with a sun and water&#10;&#10;AI-generated content may be incorrect.">
            <a:extLst>
              <a:ext uri="{FF2B5EF4-FFF2-40B4-BE49-F238E27FC236}">
                <a16:creationId xmlns:a16="http://schemas.microsoft.com/office/drawing/2014/main" id="{0A174D20-33EE-90CF-503C-847156B03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875" y="157253"/>
            <a:ext cx="1223963" cy="1223963"/>
          </a:xfrm>
          <a:prstGeom prst="rect">
            <a:avLst/>
          </a:prstGeom>
        </p:spPr>
      </p:pic>
      <p:pic>
        <p:nvPicPr>
          <p:cNvPr id="2" name="Picture 1" descr="A diagram of a power factor&#10;&#10;AI-generated content may be incorrect.">
            <a:extLst>
              <a:ext uri="{FF2B5EF4-FFF2-40B4-BE49-F238E27FC236}">
                <a16:creationId xmlns:a16="http://schemas.microsoft.com/office/drawing/2014/main" id="{F3A13670-E0AE-260F-5DF2-348B71AACC0B}"/>
              </a:ext>
            </a:extLst>
          </p:cNvPr>
          <p:cNvPicPr>
            <a:picLocks noChangeAspect="1"/>
          </p:cNvPicPr>
          <p:nvPr/>
        </p:nvPicPr>
        <p:blipFill>
          <a:blip r:embed="rId3"/>
          <a:stretch>
            <a:fillRect/>
          </a:stretch>
        </p:blipFill>
        <p:spPr>
          <a:xfrm>
            <a:off x="0" y="3426780"/>
            <a:ext cx="9144000" cy="3402548"/>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0C966250-F973-D8D5-D4FC-5BD1627F6700}"/>
              </a:ext>
            </a:extLst>
          </p:cNvPr>
          <p:cNvPicPr>
            <a:picLocks noChangeAspect="1"/>
          </p:cNvPicPr>
          <p:nvPr/>
        </p:nvPicPr>
        <p:blipFill>
          <a:blip r:embed="rId4"/>
          <a:stretch>
            <a:fillRect/>
          </a:stretch>
        </p:blipFill>
        <p:spPr>
          <a:xfrm>
            <a:off x="0" y="2496769"/>
            <a:ext cx="9144000" cy="958300"/>
          </a:xfrm>
          <a:prstGeom prst="rect">
            <a:avLst/>
          </a:prstGeom>
        </p:spPr>
      </p:pic>
      <p:sp>
        <p:nvSpPr>
          <p:cNvPr id="5" name="TextBox 4">
            <a:extLst>
              <a:ext uri="{FF2B5EF4-FFF2-40B4-BE49-F238E27FC236}">
                <a16:creationId xmlns:a16="http://schemas.microsoft.com/office/drawing/2014/main" id="{1FC773C4-FB70-4854-B44D-F85EA0790D42}"/>
              </a:ext>
            </a:extLst>
          </p:cNvPr>
          <p:cNvSpPr txBox="1"/>
          <p:nvPr/>
        </p:nvSpPr>
        <p:spPr>
          <a:xfrm>
            <a:off x="1641318" y="3452769"/>
            <a:ext cx="1434203" cy="215444"/>
          </a:xfrm>
          <a:prstGeom prst="rect">
            <a:avLst/>
          </a:prstGeom>
          <a:solidFill>
            <a:schemeClr val="bg1"/>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800" err="1">
                <a:solidFill>
                  <a:schemeClr val="bg1"/>
                </a:solidFill>
                <a:cs typeface="Lucida Sans Unicode"/>
              </a:rPr>
              <a:t>iiiiiiiiiii</a:t>
            </a:r>
            <a:endParaRPr lang="en-US" sz="800" err="1">
              <a:solidFill>
                <a:schemeClr val="bg1"/>
              </a:solidFill>
            </a:endParaRPr>
          </a:p>
        </p:txBody>
      </p:sp>
    </p:spTree>
    <p:extLst>
      <p:ext uri="{BB962C8B-B14F-4D97-AF65-F5344CB8AC3E}">
        <p14:creationId xmlns:p14="http://schemas.microsoft.com/office/powerpoint/2010/main" val="1133268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04A5FB-3150-DE63-49ED-AB3AE96ED78E}"/>
              </a:ext>
            </a:extLst>
          </p:cNvPr>
          <p:cNvSpPr txBox="1"/>
          <p:nvPr/>
        </p:nvSpPr>
        <p:spPr>
          <a:xfrm>
            <a:off x="2978855" y="1793791"/>
            <a:ext cx="318889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cs typeface="Lucida Sans Unicode"/>
              </a:rPr>
              <a:t>POWER FACTOR ANALYSER</a:t>
            </a:r>
          </a:p>
        </p:txBody>
      </p:sp>
      <p:sp>
        <p:nvSpPr>
          <p:cNvPr id="6" name="TextBox 5">
            <a:extLst>
              <a:ext uri="{FF2B5EF4-FFF2-40B4-BE49-F238E27FC236}">
                <a16:creationId xmlns:a16="http://schemas.microsoft.com/office/drawing/2014/main" id="{5B8CEC17-8C83-AE48-AFAB-E0CB1AD44B43}"/>
              </a:ext>
            </a:extLst>
          </p:cNvPr>
          <p:cNvSpPr txBox="1"/>
          <p:nvPr/>
        </p:nvSpPr>
        <p:spPr>
          <a:xfrm>
            <a:off x="1333500" y="5598"/>
            <a:ext cx="7805352" cy="1415772"/>
          </a:xfrm>
          <a:prstGeom prst="rect">
            <a:avLst/>
          </a:prstGeom>
          <a:noFill/>
        </p:spPr>
        <p:txBody>
          <a:bodyPr wrap="square" lIns="91440" tIns="45720" rIns="91440" bIns="45720" rtlCol="0" anchor="t">
            <a:spAutoFit/>
          </a:bodyPr>
          <a:lstStyle/>
          <a:p>
            <a:pPr algn="ctr"/>
            <a:r>
              <a:rPr lang="en-US" sz="4800" b="1" dirty="0">
                <a:solidFill>
                  <a:srgbClr val="C00000"/>
                </a:solidFill>
                <a:latin typeface="Times New Roman"/>
                <a:cs typeface="Times New Roman"/>
              </a:rPr>
              <a:t> </a:t>
            </a:r>
            <a:r>
              <a:rPr lang="en-US" sz="4500" b="1" dirty="0">
                <a:solidFill>
                  <a:srgbClr val="C00000"/>
                </a:solidFill>
                <a:latin typeface="Times New Roman"/>
                <a:cs typeface="Times New Roman"/>
              </a:rPr>
              <a:t>PRATHYUSHA</a:t>
            </a:r>
            <a:r>
              <a:rPr lang="en-US" sz="4800" b="1" dirty="0">
                <a:solidFill>
                  <a:srgbClr val="C00000"/>
                </a:solidFill>
                <a:latin typeface="Times New Roman"/>
                <a:cs typeface="Times New Roman"/>
              </a:rPr>
              <a:t>   </a:t>
            </a:r>
            <a:endParaRPr lang="en-US">
              <a:latin typeface="Times New Roman"/>
              <a:cs typeface="Times New Roman"/>
            </a:endParaRPr>
          </a:p>
          <a:p>
            <a:pPr algn="ctr"/>
            <a:r>
              <a:rPr lang="en-US" sz="2500" b="1" dirty="0">
                <a:solidFill>
                  <a:srgbClr val="C00000"/>
                </a:solidFill>
                <a:latin typeface="Times New Roman"/>
                <a:cs typeface="Times New Roman"/>
              </a:rPr>
              <a:t>ENGINEERING COLLEGE </a:t>
            </a:r>
            <a:endParaRPr lang="en-US" sz="2500" dirty="0">
              <a:latin typeface="Times New Roman"/>
              <a:cs typeface="Times New Roman"/>
            </a:endParaRPr>
          </a:p>
          <a:p>
            <a:pPr algn="ctr"/>
            <a:r>
              <a:rPr lang="en-US" sz="1300" b="1" dirty="0">
                <a:solidFill>
                  <a:srgbClr val="C00000"/>
                </a:solidFill>
                <a:latin typeface="Times New Roman"/>
                <a:cs typeface="Times New Roman"/>
              </a:rPr>
              <a:t>AN AUTONOMOUS INSTITUTION</a:t>
            </a:r>
            <a:endParaRPr lang="en-US" sz="1300" dirty="0">
              <a:latin typeface="Times New Roman"/>
              <a:cs typeface="Times New Roman"/>
            </a:endParaRPr>
          </a:p>
        </p:txBody>
      </p:sp>
      <p:sp>
        <p:nvSpPr>
          <p:cNvPr id="8" name="Rectangle 7">
            <a:extLst>
              <a:ext uri="{FF2B5EF4-FFF2-40B4-BE49-F238E27FC236}">
                <a16:creationId xmlns:a16="http://schemas.microsoft.com/office/drawing/2014/main" id="{13E384CE-AAB9-DA18-EF9C-CCB6792FBF13}"/>
              </a:ext>
            </a:extLst>
          </p:cNvPr>
          <p:cNvSpPr/>
          <p:nvPr/>
        </p:nvSpPr>
        <p:spPr>
          <a:xfrm>
            <a:off x="625032" y="1360177"/>
            <a:ext cx="7675606" cy="3542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pic>
        <p:nvPicPr>
          <p:cNvPr id="10" name="Picture 9" descr="A logo with a sun and water&#10;&#10;AI-generated content may be incorrect.">
            <a:extLst>
              <a:ext uri="{FF2B5EF4-FFF2-40B4-BE49-F238E27FC236}">
                <a16:creationId xmlns:a16="http://schemas.microsoft.com/office/drawing/2014/main" id="{1AE61ECF-1AD2-0939-3B21-DF163F82A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875" y="157253"/>
            <a:ext cx="1110693" cy="1110693"/>
          </a:xfrm>
          <a:prstGeom prst="rect">
            <a:avLst/>
          </a:prstGeom>
        </p:spPr>
      </p:pic>
      <p:pic>
        <p:nvPicPr>
          <p:cNvPr id="7" name="Picture 6" descr="A diagram of a power plant&#10;&#10;AI-generated content may be incorrect.">
            <a:extLst>
              <a:ext uri="{FF2B5EF4-FFF2-40B4-BE49-F238E27FC236}">
                <a16:creationId xmlns:a16="http://schemas.microsoft.com/office/drawing/2014/main" id="{2417DEBB-2BD3-83A5-E001-7B6496B387AC}"/>
              </a:ext>
            </a:extLst>
          </p:cNvPr>
          <p:cNvPicPr>
            <a:picLocks noChangeAspect="1"/>
          </p:cNvPicPr>
          <p:nvPr/>
        </p:nvPicPr>
        <p:blipFill>
          <a:blip r:embed="rId3"/>
          <a:stretch>
            <a:fillRect/>
          </a:stretch>
        </p:blipFill>
        <p:spPr>
          <a:xfrm>
            <a:off x="0" y="3377549"/>
            <a:ext cx="9144000" cy="3480415"/>
          </a:xfrm>
          <a:prstGeom prst="rect">
            <a:avLst/>
          </a:prstGeom>
        </p:spPr>
      </p:pic>
      <p:pic>
        <p:nvPicPr>
          <p:cNvPr id="9" name="Picture 8" descr="A screenshot of a computer program&#10;&#10;AI-generated content may be incorrect.">
            <a:extLst>
              <a:ext uri="{FF2B5EF4-FFF2-40B4-BE49-F238E27FC236}">
                <a16:creationId xmlns:a16="http://schemas.microsoft.com/office/drawing/2014/main" id="{BD1F1AC2-2749-3389-58F7-4E83CE11D526}"/>
              </a:ext>
            </a:extLst>
          </p:cNvPr>
          <p:cNvPicPr>
            <a:picLocks noChangeAspect="1"/>
          </p:cNvPicPr>
          <p:nvPr/>
        </p:nvPicPr>
        <p:blipFill>
          <a:blip r:embed="rId4"/>
          <a:stretch>
            <a:fillRect/>
          </a:stretch>
        </p:blipFill>
        <p:spPr>
          <a:xfrm>
            <a:off x="0" y="2101772"/>
            <a:ext cx="9144000" cy="1274618"/>
          </a:xfrm>
          <a:prstGeom prst="rect">
            <a:avLst/>
          </a:prstGeom>
        </p:spPr>
      </p:pic>
    </p:spTree>
    <p:extLst>
      <p:ext uri="{BB962C8B-B14F-4D97-AF65-F5344CB8AC3E}">
        <p14:creationId xmlns:p14="http://schemas.microsoft.com/office/powerpoint/2010/main" val="2770573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4900A-88C3-149E-4447-BF8FACF67BD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341CCD8-5F12-91EE-1E20-B31FCD916216}"/>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8" name="Rectangle 7">
            <a:extLst>
              <a:ext uri="{FF2B5EF4-FFF2-40B4-BE49-F238E27FC236}">
                <a16:creationId xmlns:a16="http://schemas.microsoft.com/office/drawing/2014/main" id="{043BA7F4-8642-FB97-1A00-98174C47AB89}"/>
              </a:ext>
            </a:extLst>
          </p:cNvPr>
          <p:cNvSpPr/>
          <p:nvPr/>
        </p:nvSpPr>
        <p:spPr>
          <a:xfrm>
            <a:off x="532356" y="1483744"/>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pic>
        <p:nvPicPr>
          <p:cNvPr id="10" name="Picture 9" descr="A logo with a sun and water&#10;&#10;AI-generated content may be incorrect.">
            <a:extLst>
              <a:ext uri="{FF2B5EF4-FFF2-40B4-BE49-F238E27FC236}">
                <a16:creationId xmlns:a16="http://schemas.microsoft.com/office/drawing/2014/main" id="{FFCE75EC-C497-A0FC-0B87-CE675AA9FC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875" y="157253"/>
            <a:ext cx="1223963" cy="1223963"/>
          </a:xfrm>
          <a:prstGeom prst="rect">
            <a:avLst/>
          </a:prstGeom>
        </p:spPr>
      </p:pic>
      <p:pic>
        <p:nvPicPr>
          <p:cNvPr id="3" name="Picture 2" descr="A graph with blue lines&#10;&#10;AI-generated content may be incorrect.">
            <a:extLst>
              <a:ext uri="{FF2B5EF4-FFF2-40B4-BE49-F238E27FC236}">
                <a16:creationId xmlns:a16="http://schemas.microsoft.com/office/drawing/2014/main" id="{82628DD0-1FE7-5064-F62C-BBCE32C52384}"/>
              </a:ext>
            </a:extLst>
          </p:cNvPr>
          <p:cNvPicPr>
            <a:picLocks noChangeAspect="1"/>
          </p:cNvPicPr>
          <p:nvPr/>
        </p:nvPicPr>
        <p:blipFill>
          <a:blip r:embed="rId3"/>
          <a:stretch>
            <a:fillRect/>
          </a:stretch>
        </p:blipFill>
        <p:spPr>
          <a:xfrm>
            <a:off x="0" y="2456447"/>
            <a:ext cx="9144000" cy="4416454"/>
          </a:xfrm>
          <a:prstGeom prst="rect">
            <a:avLst/>
          </a:prstGeom>
        </p:spPr>
      </p:pic>
      <p:sp>
        <p:nvSpPr>
          <p:cNvPr id="4" name="TextBox 3">
            <a:extLst>
              <a:ext uri="{FF2B5EF4-FFF2-40B4-BE49-F238E27FC236}">
                <a16:creationId xmlns:a16="http://schemas.microsoft.com/office/drawing/2014/main" id="{7C4C4FD6-69AF-77A2-5A4A-9D3BF1113DED}"/>
              </a:ext>
            </a:extLst>
          </p:cNvPr>
          <p:cNvSpPr txBox="1"/>
          <p:nvPr/>
        </p:nvSpPr>
        <p:spPr>
          <a:xfrm>
            <a:off x="2747522" y="2083999"/>
            <a:ext cx="36596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cs typeface="Lucida Sans Unicode"/>
              </a:rPr>
              <a:t>RESULT</a:t>
            </a:r>
          </a:p>
        </p:txBody>
      </p:sp>
    </p:spTree>
    <p:extLst>
      <p:ext uri="{BB962C8B-B14F-4D97-AF65-F5344CB8AC3E}">
        <p14:creationId xmlns:p14="http://schemas.microsoft.com/office/powerpoint/2010/main" val="224648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784D4-A9F3-6FFA-2A21-9B1850E0C97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1D67A5-9144-A971-A14F-B4EDDF84D569}"/>
              </a:ext>
            </a:extLst>
          </p:cNvPr>
          <p:cNvSpPr txBox="1"/>
          <p:nvPr/>
        </p:nvSpPr>
        <p:spPr>
          <a:xfrm>
            <a:off x="1333500" y="15895"/>
            <a:ext cx="6477000" cy="1508105"/>
          </a:xfrm>
          <a:prstGeom prst="rect">
            <a:avLst/>
          </a:prstGeom>
          <a:noFill/>
        </p:spPr>
        <p:txBody>
          <a:bodyPr wrap="square" rtlCol="0">
            <a:spAutoFit/>
          </a:bodyPr>
          <a:lstStyle/>
          <a:p>
            <a:pPr algn="ctr"/>
            <a:r>
              <a:rPr lang="en-US" sz="4800" b="1">
                <a:solidFill>
                  <a:srgbClr val="C00000"/>
                </a:solidFill>
                <a:latin typeface="Times New Roman" pitchFamily="18" charset="0"/>
                <a:cs typeface="Times New Roman" pitchFamily="18" charset="0"/>
              </a:rPr>
              <a:t> PRATHYUSHA   </a:t>
            </a:r>
            <a:r>
              <a:rPr lang="en-US" sz="2800" b="1">
                <a:solidFill>
                  <a:srgbClr val="C00000"/>
                </a:solidFill>
                <a:latin typeface="Times New Roman" pitchFamily="18" charset="0"/>
                <a:cs typeface="Times New Roman" pitchFamily="18" charset="0"/>
              </a:rPr>
              <a:t>ENGINEERING COLLEGE </a:t>
            </a:r>
          </a:p>
          <a:p>
            <a:pPr algn="ctr"/>
            <a:r>
              <a:rPr lang="en-US" sz="1600" b="1">
                <a:solidFill>
                  <a:srgbClr val="C00000"/>
                </a:solidFill>
                <a:latin typeface="Times New Roman" pitchFamily="18" charset="0"/>
                <a:cs typeface="Times New Roman" pitchFamily="18" charset="0"/>
              </a:rPr>
              <a:t>AN AUTONOMOUS INSTITUTION</a:t>
            </a:r>
            <a:endParaRPr lang="en-US" sz="1600">
              <a:latin typeface="Times New Roman" pitchFamily="18" charset="0"/>
              <a:cs typeface="Times New Roman" pitchFamily="18" charset="0"/>
            </a:endParaRPr>
          </a:p>
        </p:txBody>
      </p:sp>
      <p:sp>
        <p:nvSpPr>
          <p:cNvPr id="8" name="Rectangle 7">
            <a:extLst>
              <a:ext uri="{FF2B5EF4-FFF2-40B4-BE49-F238E27FC236}">
                <a16:creationId xmlns:a16="http://schemas.microsoft.com/office/drawing/2014/main" id="{7910DE3E-B7BF-0A96-BBCD-755ABED9A504}"/>
              </a:ext>
            </a:extLst>
          </p:cNvPr>
          <p:cNvSpPr/>
          <p:nvPr/>
        </p:nvSpPr>
        <p:spPr>
          <a:xfrm>
            <a:off x="532356" y="1483744"/>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DEPARTMENT OF EEE  </a:t>
            </a:r>
          </a:p>
        </p:txBody>
      </p:sp>
      <p:pic>
        <p:nvPicPr>
          <p:cNvPr id="10" name="Picture 9" descr="A logo with a sun and water&#10;&#10;AI-generated content may be incorrect.">
            <a:extLst>
              <a:ext uri="{FF2B5EF4-FFF2-40B4-BE49-F238E27FC236}">
                <a16:creationId xmlns:a16="http://schemas.microsoft.com/office/drawing/2014/main" id="{726E680E-673E-95B9-1A0F-6542195538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875" y="157253"/>
            <a:ext cx="1223963" cy="1223963"/>
          </a:xfrm>
          <a:prstGeom prst="rect">
            <a:avLst/>
          </a:prstGeom>
        </p:spPr>
      </p:pic>
      <p:sp>
        <p:nvSpPr>
          <p:cNvPr id="4" name="TextBox 3">
            <a:extLst>
              <a:ext uri="{FF2B5EF4-FFF2-40B4-BE49-F238E27FC236}">
                <a16:creationId xmlns:a16="http://schemas.microsoft.com/office/drawing/2014/main" id="{B63FC70D-4451-37D0-E342-F617C9405B6A}"/>
              </a:ext>
            </a:extLst>
          </p:cNvPr>
          <p:cNvSpPr txBox="1"/>
          <p:nvPr/>
        </p:nvSpPr>
        <p:spPr>
          <a:xfrm>
            <a:off x="2747522" y="2083999"/>
            <a:ext cx="36596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cs typeface="Lucida Sans Unicode"/>
              </a:rPr>
              <a:t>HARDWARE PROTOTYPE</a:t>
            </a:r>
          </a:p>
        </p:txBody>
      </p:sp>
      <p:pic>
        <p:nvPicPr>
          <p:cNvPr id="2" name="Picture 1">
            <a:extLst>
              <a:ext uri="{FF2B5EF4-FFF2-40B4-BE49-F238E27FC236}">
                <a16:creationId xmlns:a16="http://schemas.microsoft.com/office/drawing/2014/main" id="{3FD866C8-AC16-F07E-D1EE-ED5C82B3B680}"/>
              </a:ext>
            </a:extLst>
          </p:cNvPr>
          <p:cNvPicPr>
            <a:picLocks noChangeAspect="1"/>
          </p:cNvPicPr>
          <p:nvPr/>
        </p:nvPicPr>
        <p:blipFill>
          <a:blip r:embed="rId3"/>
          <a:srcRect t="13814" b="901"/>
          <a:stretch>
            <a:fillRect/>
          </a:stretch>
        </p:blipFill>
        <p:spPr>
          <a:xfrm>
            <a:off x="1155258" y="2358735"/>
            <a:ext cx="7084637" cy="4504315"/>
          </a:xfrm>
          <a:prstGeom prst="rect">
            <a:avLst/>
          </a:prstGeom>
        </p:spPr>
      </p:pic>
    </p:spTree>
    <p:extLst>
      <p:ext uri="{BB962C8B-B14F-4D97-AF65-F5344CB8AC3E}">
        <p14:creationId xmlns:p14="http://schemas.microsoft.com/office/powerpoint/2010/main" val="25866349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5F6BA-C9BB-00B1-4171-6E5B892910A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1F7A901-5103-2BDD-F130-75B9F114F4A1}"/>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C63ED687-1715-DB30-383F-6D261ECD4ABA}"/>
              </a:ext>
            </a:extLst>
          </p:cNvPr>
          <p:cNvSpPr/>
          <p:nvPr/>
        </p:nvSpPr>
        <p:spPr>
          <a:xfrm>
            <a:off x="532356" y="1641894"/>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sp>
        <p:nvSpPr>
          <p:cNvPr id="9" name="TextBox 8">
            <a:extLst>
              <a:ext uri="{FF2B5EF4-FFF2-40B4-BE49-F238E27FC236}">
                <a16:creationId xmlns:a16="http://schemas.microsoft.com/office/drawing/2014/main" id="{98135486-112B-7DBB-28DC-86D2D94C02F1}"/>
              </a:ext>
            </a:extLst>
          </p:cNvPr>
          <p:cNvSpPr txBox="1"/>
          <p:nvPr/>
        </p:nvSpPr>
        <p:spPr>
          <a:xfrm>
            <a:off x="2918604" y="2099094"/>
            <a:ext cx="3295292" cy="400110"/>
          </a:xfrm>
          <a:prstGeom prst="rect">
            <a:avLst/>
          </a:prstGeom>
          <a:noFill/>
        </p:spPr>
        <p:txBody>
          <a:bodyPr wrap="square" lIns="91440" tIns="45720" rIns="91440" bIns="45720" rtlCol="0" anchor="t">
            <a:spAutoFit/>
          </a:bodyPr>
          <a:lstStyle/>
          <a:p>
            <a:pPr algn="ctr"/>
            <a:r>
              <a:rPr lang="en-US" sz="2000" b="1">
                <a:latin typeface="Calibri"/>
                <a:ea typeface="Calibri"/>
                <a:cs typeface="Calibri"/>
              </a:rPr>
              <a:t>WEBSITE INTERFACE - USER</a:t>
            </a:r>
            <a:endParaRPr lang="en-US"/>
          </a:p>
        </p:txBody>
      </p:sp>
      <p:pic>
        <p:nvPicPr>
          <p:cNvPr id="3" name="Picture 2">
            <a:extLst>
              <a:ext uri="{FF2B5EF4-FFF2-40B4-BE49-F238E27FC236}">
                <a16:creationId xmlns:a16="http://schemas.microsoft.com/office/drawing/2014/main" id="{ADED4D8E-C2FB-1D02-C057-E9DEDDCBA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pic>
        <p:nvPicPr>
          <p:cNvPr id="5" name="Picture 4" descr="A screenshot of a login screen&#10;&#10;AI-generated content may be incorrect.">
            <a:extLst>
              <a:ext uri="{FF2B5EF4-FFF2-40B4-BE49-F238E27FC236}">
                <a16:creationId xmlns:a16="http://schemas.microsoft.com/office/drawing/2014/main" id="{B96DB325-C2A8-E7F5-B371-93F3543D20C9}"/>
              </a:ext>
            </a:extLst>
          </p:cNvPr>
          <p:cNvPicPr>
            <a:picLocks noChangeAspect="1"/>
          </p:cNvPicPr>
          <p:nvPr/>
        </p:nvPicPr>
        <p:blipFill>
          <a:blip r:embed="rId3"/>
          <a:stretch>
            <a:fillRect/>
          </a:stretch>
        </p:blipFill>
        <p:spPr>
          <a:xfrm>
            <a:off x="0" y="2508467"/>
            <a:ext cx="9144000" cy="4342726"/>
          </a:xfrm>
          <a:prstGeom prst="rect">
            <a:avLst/>
          </a:prstGeom>
        </p:spPr>
      </p:pic>
    </p:spTree>
    <p:extLst>
      <p:ext uri="{BB962C8B-B14F-4D97-AF65-F5344CB8AC3E}">
        <p14:creationId xmlns:p14="http://schemas.microsoft.com/office/powerpoint/2010/main" val="226170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1D15B-33B4-921D-F0C9-03A88EDA2D3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13B4D5C-D67C-0057-7E98-8000FD9D90DF}"/>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84C3EF1E-5175-388C-4AE1-CD3906D7EAAA}"/>
              </a:ext>
            </a:extLst>
          </p:cNvPr>
          <p:cNvSpPr/>
          <p:nvPr/>
        </p:nvSpPr>
        <p:spPr>
          <a:xfrm>
            <a:off x="532356" y="1641894"/>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sp>
        <p:nvSpPr>
          <p:cNvPr id="9" name="TextBox 8">
            <a:extLst>
              <a:ext uri="{FF2B5EF4-FFF2-40B4-BE49-F238E27FC236}">
                <a16:creationId xmlns:a16="http://schemas.microsoft.com/office/drawing/2014/main" id="{2347CD93-C922-22FA-90AA-44D058AA43AA}"/>
              </a:ext>
            </a:extLst>
          </p:cNvPr>
          <p:cNvSpPr txBox="1"/>
          <p:nvPr/>
        </p:nvSpPr>
        <p:spPr>
          <a:xfrm>
            <a:off x="2918604" y="2099094"/>
            <a:ext cx="3295292" cy="400110"/>
          </a:xfrm>
          <a:prstGeom prst="rect">
            <a:avLst/>
          </a:prstGeom>
          <a:noFill/>
        </p:spPr>
        <p:txBody>
          <a:bodyPr wrap="square" lIns="91440" tIns="45720" rIns="91440" bIns="45720" rtlCol="0" anchor="t">
            <a:spAutoFit/>
          </a:bodyPr>
          <a:lstStyle/>
          <a:p>
            <a:pPr algn="ctr"/>
            <a:r>
              <a:rPr lang="en-US" sz="2000" b="1">
                <a:latin typeface="Calibri"/>
                <a:ea typeface="Calibri"/>
                <a:cs typeface="Calibri"/>
              </a:rPr>
              <a:t>WEBSITE INTERFACE - ADMIN</a:t>
            </a:r>
            <a:endParaRPr lang="en-US">
              <a:latin typeface="Lucida Sans Unicode"/>
              <a:ea typeface="Calibri"/>
              <a:cs typeface="Lucida Sans Unicode"/>
            </a:endParaRPr>
          </a:p>
        </p:txBody>
      </p:sp>
      <p:pic>
        <p:nvPicPr>
          <p:cNvPr id="3" name="Picture 2">
            <a:extLst>
              <a:ext uri="{FF2B5EF4-FFF2-40B4-BE49-F238E27FC236}">
                <a16:creationId xmlns:a16="http://schemas.microsoft.com/office/drawing/2014/main" id="{9D149606-891A-8D49-51F8-36FA22D70A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D695877F-5E38-0DAE-F8D8-66540A4AFD2E}"/>
              </a:ext>
            </a:extLst>
          </p:cNvPr>
          <p:cNvPicPr>
            <a:picLocks noChangeAspect="1"/>
          </p:cNvPicPr>
          <p:nvPr/>
        </p:nvPicPr>
        <p:blipFill>
          <a:blip r:embed="rId3"/>
          <a:stretch>
            <a:fillRect/>
          </a:stretch>
        </p:blipFill>
        <p:spPr>
          <a:xfrm>
            <a:off x="0" y="2591527"/>
            <a:ext cx="9144000" cy="3889060"/>
          </a:xfrm>
          <a:prstGeom prst="rect">
            <a:avLst/>
          </a:prstGeom>
        </p:spPr>
      </p:pic>
    </p:spTree>
    <p:extLst>
      <p:ext uri="{BB962C8B-B14F-4D97-AF65-F5344CB8AC3E}">
        <p14:creationId xmlns:p14="http://schemas.microsoft.com/office/powerpoint/2010/main" val="2756715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0AB19-10FC-26EC-105E-CA34D7A65CD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078101F-662E-C236-5DF7-942A9A0868B8}"/>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79D783C8-6B3F-4935-9A25-D7E4E33166AA}"/>
              </a:ext>
            </a:extLst>
          </p:cNvPr>
          <p:cNvSpPr/>
          <p:nvPr/>
        </p:nvSpPr>
        <p:spPr>
          <a:xfrm>
            <a:off x="532356" y="1641894"/>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sp>
        <p:nvSpPr>
          <p:cNvPr id="9" name="TextBox 8">
            <a:extLst>
              <a:ext uri="{FF2B5EF4-FFF2-40B4-BE49-F238E27FC236}">
                <a16:creationId xmlns:a16="http://schemas.microsoft.com/office/drawing/2014/main" id="{925A44D7-697E-10E2-77B4-95148311E6AD}"/>
              </a:ext>
            </a:extLst>
          </p:cNvPr>
          <p:cNvSpPr txBox="1"/>
          <p:nvPr/>
        </p:nvSpPr>
        <p:spPr>
          <a:xfrm>
            <a:off x="3730925" y="2199736"/>
            <a:ext cx="1670651" cy="400110"/>
          </a:xfrm>
          <a:prstGeom prst="rect">
            <a:avLst/>
          </a:prstGeom>
          <a:noFill/>
        </p:spPr>
        <p:txBody>
          <a:bodyPr wrap="square" lIns="91440" tIns="45720" rIns="91440" bIns="45720" rtlCol="0" anchor="t">
            <a:spAutoFit/>
          </a:bodyPr>
          <a:lstStyle/>
          <a:p>
            <a:pPr algn="ctr"/>
            <a:r>
              <a:rPr lang="en-US" sz="2000" b="1">
                <a:latin typeface="Calibri"/>
                <a:ea typeface="Calibri"/>
                <a:cs typeface="Calibri"/>
              </a:rPr>
              <a:t>CONCLUSION</a:t>
            </a:r>
            <a:endParaRPr lang="en-US" sz="2000" b="1" dirty="0">
              <a:latin typeface="Calibri"/>
              <a:ea typeface="Calibri"/>
              <a:cs typeface="Calibri"/>
            </a:endParaRPr>
          </a:p>
        </p:txBody>
      </p:sp>
      <p:pic>
        <p:nvPicPr>
          <p:cNvPr id="3" name="Picture 2">
            <a:extLst>
              <a:ext uri="{FF2B5EF4-FFF2-40B4-BE49-F238E27FC236}">
                <a16:creationId xmlns:a16="http://schemas.microsoft.com/office/drawing/2014/main" id="{E474FBBA-7E44-83BA-0FF4-10E79137AD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
        <p:nvSpPr>
          <p:cNvPr id="2" name="TextBox 1">
            <a:extLst>
              <a:ext uri="{FF2B5EF4-FFF2-40B4-BE49-F238E27FC236}">
                <a16:creationId xmlns:a16="http://schemas.microsoft.com/office/drawing/2014/main" id="{C68FA224-E252-54FD-DA66-D07D631F7908}"/>
              </a:ext>
            </a:extLst>
          </p:cNvPr>
          <p:cNvSpPr txBox="1"/>
          <p:nvPr/>
        </p:nvSpPr>
        <p:spPr>
          <a:xfrm>
            <a:off x="366623" y="2616680"/>
            <a:ext cx="8370498" cy="3488206"/>
          </a:xfrm>
          <a:prstGeom prst="rect">
            <a:avLst/>
          </a:prstGeom>
          <a:noFill/>
        </p:spPr>
        <p:txBody>
          <a:bodyPr wrap="square" lIns="91440" tIns="45720" rIns="91440" bIns="45720" rtlCol="0" anchor="t">
            <a:spAutoFit/>
          </a:bodyPr>
          <a:lstStyle/>
          <a:p>
            <a:pPr algn="just"/>
            <a:r>
              <a:rPr lang="en-US" dirty="0">
                <a:latin typeface="Times New Roman"/>
                <a:ea typeface="+mn-lt"/>
                <a:cs typeface="Times New Roman"/>
              </a:rPr>
              <a:t>Thus, our project successfully demonstrates a groundbreaking approach to contemporary power management by transitioning from traditional cloud-reliant systems to a deterministic, </a:t>
            </a:r>
            <a:r>
              <a:rPr lang="en-US" b="1" dirty="0">
                <a:latin typeface="Times New Roman"/>
                <a:ea typeface="+mn-lt"/>
                <a:cs typeface="Times New Roman"/>
              </a:rPr>
              <a:t>dual-core edge computing framework</a:t>
            </a:r>
            <a:r>
              <a:rPr lang="en-US" dirty="0">
                <a:latin typeface="Times New Roman"/>
                <a:ea typeface="+mn-lt"/>
                <a:cs typeface="Times New Roman"/>
              </a:rPr>
              <a:t>. By utilizing the parallel processing capabilities of the </a:t>
            </a:r>
            <a:r>
              <a:rPr lang="en-US" b="1" dirty="0">
                <a:latin typeface="Times New Roman"/>
                <a:ea typeface="+mn-lt"/>
                <a:cs typeface="Times New Roman"/>
              </a:rPr>
              <a:t>ESP32</a:t>
            </a:r>
            <a:r>
              <a:rPr lang="en-US" dirty="0">
                <a:latin typeface="Times New Roman"/>
                <a:ea typeface="+mn-lt"/>
                <a:cs typeface="Times New Roman"/>
              </a:rPr>
              <a:t>, the system effectively decouples high-speed </a:t>
            </a:r>
            <a:r>
              <a:rPr lang="en-US" b="1" dirty="0">
                <a:latin typeface="Times New Roman"/>
                <a:ea typeface="+mn-lt"/>
                <a:cs typeface="Times New Roman"/>
              </a:rPr>
              <a:t>neural network-based Power Factor optimization</a:t>
            </a:r>
            <a:r>
              <a:rPr lang="en-US" dirty="0">
                <a:latin typeface="Times New Roman"/>
                <a:ea typeface="+mn-lt"/>
                <a:cs typeface="Times New Roman"/>
              </a:rPr>
              <a:t> (Core 0) from </a:t>
            </a:r>
            <a:r>
              <a:rPr lang="en-US" b="1" dirty="0">
                <a:latin typeface="Times New Roman"/>
                <a:ea typeface="+mn-lt"/>
                <a:cs typeface="Times New Roman"/>
              </a:rPr>
              <a:t>intelligent load demand management</a:t>
            </a:r>
            <a:r>
              <a:rPr lang="en-US" dirty="0">
                <a:latin typeface="Times New Roman"/>
                <a:ea typeface="+mn-lt"/>
                <a:cs typeface="Times New Roman"/>
              </a:rPr>
              <a:t> and IoT telemetry (Core 1). The hardware prototype achieved its primary engineering goals like maintaining a </a:t>
            </a:r>
            <a:r>
              <a:rPr lang="en-US" b="1" dirty="0">
                <a:latin typeface="Times New Roman"/>
                <a:ea typeface="+mn-lt"/>
                <a:cs typeface="Times New Roman"/>
              </a:rPr>
              <a:t>near-unity power factor</a:t>
            </a:r>
            <a:r>
              <a:rPr lang="en-US" dirty="0">
                <a:latin typeface="Times New Roman"/>
                <a:ea typeface="+mn-lt"/>
                <a:cs typeface="Times New Roman"/>
              </a:rPr>
              <a:t> to eliminate utility penalties and ensuring an uninterruptible, </a:t>
            </a:r>
            <a:r>
              <a:rPr lang="en-US" b="1" dirty="0">
                <a:latin typeface="Times New Roman"/>
                <a:ea typeface="+mn-lt"/>
                <a:cs typeface="Times New Roman"/>
              </a:rPr>
              <a:t>"always-on" microgrid</a:t>
            </a:r>
            <a:r>
              <a:rPr lang="en-US" dirty="0">
                <a:latin typeface="Times New Roman"/>
                <a:ea typeface="+mn-lt"/>
                <a:cs typeface="Times New Roman"/>
              </a:rPr>
              <a:t> through a diode OR-</a:t>
            </a:r>
            <a:r>
              <a:rPr lang="en-US" dirty="0" err="1">
                <a:latin typeface="Times New Roman"/>
                <a:ea typeface="+mn-lt"/>
                <a:cs typeface="Times New Roman"/>
              </a:rPr>
              <a:t>ing</a:t>
            </a:r>
            <a:r>
              <a:rPr lang="en-US" dirty="0">
                <a:latin typeface="Times New Roman"/>
                <a:ea typeface="+mn-lt"/>
                <a:cs typeface="Times New Roman"/>
              </a:rPr>
              <a:t> bus that seamlessly integrates renewable solar and wind sources during AC mains failure. Ultimately, this self-regulating IoT solution delivers a scalable model for industrial efficiency, providing verified results of </a:t>
            </a:r>
            <a:r>
              <a:rPr lang="en-US" b="1" dirty="0">
                <a:latin typeface="Times New Roman"/>
                <a:ea typeface="+mn-lt"/>
                <a:cs typeface="Times New Roman"/>
              </a:rPr>
              <a:t>15-25% peak demand reduction</a:t>
            </a:r>
            <a:r>
              <a:rPr lang="en-US" dirty="0">
                <a:latin typeface="Times New Roman"/>
                <a:ea typeface="+mn-lt"/>
                <a:cs typeface="Times New Roman"/>
              </a:rPr>
              <a:t> and sustained power quality for sustainable electrical systems.</a:t>
            </a:r>
            <a:endParaRPr lang="en-US">
              <a:latin typeface="Times New Roman"/>
              <a:cs typeface="Times New Roman"/>
            </a:endParaRPr>
          </a:p>
        </p:txBody>
      </p:sp>
    </p:spTree>
    <p:extLst>
      <p:ext uri="{BB962C8B-B14F-4D97-AF65-F5344CB8AC3E}">
        <p14:creationId xmlns:p14="http://schemas.microsoft.com/office/powerpoint/2010/main" val="1698846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85FCD-E437-E622-5CA9-4A48CB41C4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3087C10-670C-4CDF-B932-0ACFF0F4537B}"/>
              </a:ext>
            </a:extLst>
          </p:cNvPr>
          <p:cNvSpPr txBox="1"/>
          <p:nvPr/>
        </p:nvSpPr>
        <p:spPr>
          <a:xfrm>
            <a:off x="1333500" y="15895"/>
            <a:ext cx="6477000" cy="1508105"/>
          </a:xfrm>
          <a:prstGeom prst="rect">
            <a:avLst/>
          </a:prstGeom>
          <a:noFill/>
        </p:spPr>
        <p:txBody>
          <a:bodyPr wrap="square" rtlCol="0">
            <a:spAutoFit/>
          </a:bodyPr>
          <a:lstStyle/>
          <a:p>
            <a:pPr algn="ctr"/>
            <a:r>
              <a:rPr lang="en-US" sz="4800" b="1" dirty="0">
                <a:solidFill>
                  <a:srgbClr val="C00000"/>
                </a:solidFill>
                <a:latin typeface="Times New Roman" pitchFamily="18" charset="0"/>
                <a:cs typeface="Times New Roman" pitchFamily="18" charset="0"/>
              </a:rPr>
              <a:t> PRATHYUSHA   </a:t>
            </a:r>
            <a:r>
              <a:rPr lang="en-US" sz="2800" b="1" dirty="0">
                <a:solidFill>
                  <a:srgbClr val="C00000"/>
                </a:solidFill>
                <a:latin typeface="Times New Roman" pitchFamily="18" charset="0"/>
                <a:cs typeface="Times New Roman" pitchFamily="18" charset="0"/>
              </a:rPr>
              <a:t>ENGINEERING COLLEGE </a:t>
            </a:r>
          </a:p>
          <a:p>
            <a:pPr algn="ctr"/>
            <a:r>
              <a:rPr lang="en-US" sz="1600" b="1" dirty="0">
                <a:solidFill>
                  <a:srgbClr val="C00000"/>
                </a:solidFill>
                <a:latin typeface="Times New Roman" pitchFamily="18" charset="0"/>
                <a:cs typeface="Times New Roman" pitchFamily="18" charset="0"/>
              </a:rPr>
              <a:t>AN AUTONOMOUS INSTITUTION</a:t>
            </a:r>
            <a:endParaRPr lang="en-US" sz="16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234071DC-B6A4-9A8D-F3A9-2B81A7B9880B}"/>
              </a:ext>
            </a:extLst>
          </p:cNvPr>
          <p:cNvSpPr/>
          <p:nvPr/>
        </p:nvSpPr>
        <p:spPr>
          <a:xfrm>
            <a:off x="532356" y="1828800"/>
            <a:ext cx="80772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DEPARTMENT OF EEE  </a:t>
            </a:r>
          </a:p>
        </p:txBody>
      </p:sp>
      <p:sp>
        <p:nvSpPr>
          <p:cNvPr id="9" name="TextBox 8">
            <a:extLst>
              <a:ext uri="{FF2B5EF4-FFF2-40B4-BE49-F238E27FC236}">
                <a16:creationId xmlns:a16="http://schemas.microsoft.com/office/drawing/2014/main" id="{4BF0E7FC-D3FE-5640-54A7-891C5CF841C1}"/>
              </a:ext>
            </a:extLst>
          </p:cNvPr>
          <p:cNvSpPr txBox="1"/>
          <p:nvPr/>
        </p:nvSpPr>
        <p:spPr>
          <a:xfrm>
            <a:off x="610644" y="3048000"/>
            <a:ext cx="7924800" cy="769441"/>
          </a:xfrm>
          <a:prstGeom prst="rect">
            <a:avLst/>
          </a:prstGeom>
          <a:noFill/>
        </p:spPr>
        <p:txBody>
          <a:bodyPr wrap="square" rtlCol="0">
            <a:spAutoFit/>
          </a:bodyPr>
          <a:lstStyle/>
          <a:p>
            <a:pPr algn="ctr"/>
            <a:r>
              <a:rPr lang="en-US" sz="4400" b="1" dirty="0">
                <a:latin typeface="Times New Roman" pitchFamily="18" charset="0"/>
                <a:cs typeface="Times New Roman" pitchFamily="18" charset="0"/>
              </a:rPr>
              <a:t>THANK YOU</a:t>
            </a:r>
            <a:endParaRPr lang="en-US" sz="4400" dirty="0"/>
          </a:p>
        </p:txBody>
      </p:sp>
      <p:pic>
        <p:nvPicPr>
          <p:cNvPr id="3" name="Picture 2">
            <a:extLst>
              <a:ext uri="{FF2B5EF4-FFF2-40B4-BE49-F238E27FC236}">
                <a16:creationId xmlns:a16="http://schemas.microsoft.com/office/drawing/2014/main" id="{81D99736-BE87-1B43-DD0E-D496229F5F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18" y="114121"/>
            <a:ext cx="1223963" cy="1223963"/>
          </a:xfrm>
          <a:prstGeom prst="rect">
            <a:avLst/>
          </a:prstGeom>
        </p:spPr>
      </p:pic>
    </p:spTree>
    <p:extLst>
      <p:ext uri="{BB962C8B-B14F-4D97-AF65-F5344CB8AC3E}">
        <p14:creationId xmlns:p14="http://schemas.microsoft.com/office/powerpoint/2010/main" val="2882135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 dockstate="right" visibility="1"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2CF01057-8E53-488D-8FD6-E0DA0D453FA8}">
  <we:reference id="wa200007130" version="1.0.0.1" store="en-US" storeType="omex"/>
  <we:alternateReferences>
    <we:reference id="wa200007130" version="1.0.0.1" store="omex"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8CDA7C7A-24FF-486B-8C83-4E8B42FD0DCE}">
  <we:reference id="wa200005566" version="1.0.0.0" store="en-US" storeType="omex"/>
  <we:alternateReferences>
    <we:reference id="wa200005566" version="1.0.0.0" store="omex"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Concourse</Template>
  <TotalTime>588</TotalTime>
  <Words>1774</Words>
  <Application>Microsoft Office PowerPoint</Application>
  <PresentationFormat>On-screen Show (4:3)</PresentationFormat>
  <Paragraphs>251</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Concourse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staff</dc:creator>
  <cp:lastModifiedBy>Janaki Raman</cp:lastModifiedBy>
  <cp:revision>1266</cp:revision>
  <dcterms:created xsi:type="dcterms:W3CDTF">2016-12-27T03:53:13Z</dcterms:created>
  <dcterms:modified xsi:type="dcterms:W3CDTF">2026-04-20T04:14:53Z</dcterms:modified>
</cp:coreProperties>
</file>